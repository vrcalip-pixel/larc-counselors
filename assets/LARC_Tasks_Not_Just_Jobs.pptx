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8" d="100"/>
          <a:sy n="88"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4989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 about 30 seconds.
Don't speak immediately. Let people settle into the room. The title is doing the work — "Tasks, Not Just Jobs." That subtitle tells them why they're here.
Wait for quiet before you start. About 30 seconds. Make eye contact with a few people. Then move to slide 2.
Energy note for repeat sessions: in the post-lunch 12:40 PM rotation, walk to the front of the room rather than starting from behind a podium. The physical motion wakes people up.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 FRAME — about 3-4 minutes total.
Open with the question, not yourself. Read it from the slide:
"In the past month, how many of you have had a student ask if their career will be replaced by AI?"
Pause. Hands will go up — usually most of them. Don't comment on the count. Just acknowledge it: "OK, so it's almost everyone."
Then say: "Here's the problem with that question — and the better one we're going to learn to ask back. By the time you leave this room, you'll have a sharper way to answer that student, three scenarios to practice with, and a toolkit you can keep on your phone."
Now your credibility line, short:
"I'm Vincent Calip. I teach AI at LBCC and lead our regional LA-25 AI faculty initiative. What I'm sharing today comes from what counselors and faculty across our region have been telling me they actually need."
Frame the deal in one sentence: "Forty-five minutes. Three things — language, scenarios, and a toolkit you can keep."
Move 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REFRAME — about 2 minutes.
This is the central insight. Don't read all three stats — pick one and let it land.
Try this: "Look at the middle one. Seventy percent of skills used in most jobs are projected to change by 2030. That's not 70 percent of jobs disappearing. That's 70 percent of skills inside the same job changing. Big difference."
Pause. Let people reread the cards.
Then deliver the throughline slowly:
"Most jobs aren't disappearing. They're being redesigned around new tasks. And new tasks mean new skills."
This sentence is your spine for the whole session. Say it slowly. Don't rush.
If someone asks for sources, point at the small text below each card. Tell them the toolkit page (linked at the end) has everything cited.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UNIVERSAL PATTERN — about 60 to 90 seconds. Don't dwell.
Quick walkthrough. "Take a medical assistant. Same job title, ten years ago and today. The patient still needs care. The human is still in the room. But the toolkit changed."
Walk THEN briefly: paper, manual, phone tag, hand-typed letters.
Walk NOW: AI-assisted charting, automated reminders, drafted communications, decision support.
Land the closing line, slowly: "Same human in the room with the patient. Different toolkit."
Pause. Then bridge into the next slide:
"And here's the thing — this isn't just happening to medical assistants. It's happening to you."
That bridge is critical. It sets up the payoff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 — about 90 seconds to 2 minutes. Slow down here.
This is where the room leans in. Open simply: "Now look at your own work. This is happening — whether your district has officially adopted AI tools or not."
Walk THEN briefly: letters, paper transcripts, English-only outreach, manual tracking.
Then NOW — slow down on each one. They matter:
- "AI-drafted letter starters that you review and personalize."
- "Searchable digital records with AI summaries."
- "Real-time translated communication with families."
- "Caseload alerts that flag students who may need outreach."
Look up. Make eye contact. Then say:
"You're still the counselor. Still the relationship. Still the judgment. The toolkit is shifting under you whether or not you adopted it. The question isn't whether AI is in your work — it's whether you're shaping how it shows up."
Land the closing line, mirroring the previous slide: "Same counselor in the room with the student. Different toolkit."
Pause before moving on.
If you get pushback ("we don't use any of those tools"), validate it: "Some districts are further along than others. The point isn't that you're behind — it's that the tools are coming, and counselors who shape that conversation early get a seat at the table."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 TAKEAWAY — about 90 seconds. Don't rush this slide.
This is your single most important slide. The whole reframe collapses to this question.
Read the old question with a slightly tired voice — like you've heard it a thousand times: "Will my career be replaced by AI?"
Pause. Then add the analysis:
"That question puts students on defense. It frames their future as a yes/no. It assumes the world is happening to them."
Now point to the new question. Read it slowly:
"Which tasks in this career are changing — and which still need human judgment?"
Let it land. Then explain why:
"This question opens a conversation. It moves students from fear to inquiry. And it puts you back in the driver's seat as a counselor — because helping students think through that distinction is exactly what you're trained to do."
If you only had one minute with a student about AI, this question is what you'd give them. That's how important this slide 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FOUR-PART STACK — about 2 to 3 minutes.
Walk the four parts quickly. Don't read the descriptions verbatim — they're on the screen for the room.
"Students need four things stacked together.
First — AI literacy. And let me name what that actually means, because 'AI literacy' is too vague. It's three specific skills: prompt literacy, output evaluation, and ethics in AI. These are the three skills I named at the Select LA Investment Summit last spring, and they're the spine of our AI curriculum at LBCC. Notice what's NOT on that list — coding. Most students do not need to learn to code.
For counselors, those three become three advising questions:
Can the student prompt well? Can they evaluate what AI gives them? Are they using it ethically? That's AI literacy in practice."
KEEP THIS PART TIGHT — about 30 seconds total. The temptation is to dwell on your curriculum here. Resist. Pivot back fast:
"Second — human skills. Communication, judgment, collaboration, ethics, empathy. The things AI cannot do alone.
Third — domain knowledge. The actual field they want to enter. A nurse needs to know nursing. A welder needs to know welding. AI doesn't replace expertise — it amplifies it.
And fourth — evidence. Projects, certificates, internships, dual-enrollment artifacts. Things that prove they can do the work."
Land the takeaway:
"AI literacy is the new digital literacy. Pair it relentlessly with human skills. The students who win aren't the ones who out-tech the AI. They're the ones who out-judge it."
Pause on that last line. It's quotable.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RECEIPT — about 90 seconds.
This stat closes the loop on everything you just said. Hold for a beat — let the room see 56 percent.
"Workers with AI skills are earning a 56 percent wage premium. That's not a small bump. That's a major shift."
Then move to the bullets on the right and don't read them all — pick the bottom one to land on:
"And here's what's underneath that — degree requirements are loosening faster in AI-exposed jobs. So skills evidence is moving up. Credential gates are moving down. That last bullet is the real story for our students. The piece of paper is becoming less important. What you can demonstrate is becoming more important."
If a counselor pushes back ("but our students still need degrees"), agree:
"Absolutely. Degrees still matter. The point isn't that they don't — it's that on top of the degree, students need evidence. And evidence opens doors that degree-only candidates can't open anymore."
Move on briskly.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PIVOT TO INTERACTIVE — about 60 seconds.
Energy shift here. You've been talking. Now they talk.
"OK, enough from me. The next 13 minutes are the most important of this session — because this is where you practice."
Set up the format:
"Three students. Three real scenarios. Pair up with someone next to you. For each one — 30 seconds to read, 2 minutes to discuss, 1 minute for a quick debrief together. Don't try to be perfect. The point isn't a model answer — the point is to practice the reframe we just learned."
Practical cue: "Find a partner now. Just turn to the person next to you. If you're in an odd row, make a trio."
Wait until pairs are formed. Don't move to scenario 1 until you see the room is ready.
If energy is low (especially the post-lunch session), have them stand up for the scenarios. Movement helps.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1: MARIA — about 4 minutes total.
Read aloud. "Maria. Eleventh grader. Wants to be a nurse." Then her quote: "I want to be a nurse. I don't really need AI stuff — I just want to help people."
Pause. Then cue: "How would you advise her? Pair-share, two minutes. Go."
WALK THE ROOM. Don't stay at the front. Listen for whether pairs are reframing or just redirecting. If you hear someone genuinely struggling, drop a quiet hint: "What tasks in nursing are changing?"
After 2 minutes, call it back: "Quick debrief. What did you hear from your partner?" Take 1 to 2 voices. Validate any reasonable response.
Then add your debrief:
"A few things I'd surface. Nurses already use AI today — in charting, decision support, drug-interaction alerts, drafting patient communication. AI literacy doesn't make Maria less human. It makes her care more efficient so she has more time for the human part.
Pathway move: dual enrollment in health science. Intro courses. She doesn't need to become a tech person. She needs to be a great nurse who can use her tools."
Move on briskly. Don't let any one scenario eat too much time.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2: JAYLEN — about 4 minutes total.
Read aloud. "Jaylen. Senior. Undecided." Quote: "What's the point of choosing a career? AI's going to replace it all anyway."
Pause. "Pair-share. Two minutes."
WALK THE ROOM AGAIN. Listen for whether pairs are addressing the fear underneath. Jaylen is paralyzed, not lazy.
After 2 minutes: "What did you hear?"
Your debrief:
"Reframe Jaylen from 'what won't be replaced?' to 'where is work growing?' Anchor stat: BLS projects data scientists up 34 percent and information security analysts up 29 percent through 2034. Concrete growth — not vague reassurance.
Then a small move. Not a permanent decision. Dual enrollment, an exposure course, a job shadow. Something he can DO this semester. The fear underneath is paralysis. Help him take a step — any step."
If someone in the room offers something like "I'd tell him AI won't replace everything," validate: "Right — and the move is to make that concrete. What's the next step Jaylen can take? Not next year — this month."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3: PRIYA — about 4 minutes total.
Read aloud. "Priya. Senior. Loves tech, anxious about coding." Quote: "I love technology, but I'm not a programmer. I think I'm out of the AI conversation."
Pause. "Pair-share. Two minutes."
After 2 minutes: "What did you hear?"
Your debrief:
"Priya needs us to broaden the definition of AI work. Not all AI careers are coding. Prompt engineering. AI ethics. AI in design and marketing. AI in healthcare administration. AI project management. UX design with AI tools. These are real jobs, real salaries, and they don't require deep coding.
Adjacent pathways. Short certificates. Business analytics. Communications plus AI tools. UX. The message for Priya: there's room for you in AI without becoming a programmer. The room is much bigger than she thinks."
This scenario tends to get the most "aha" moments because many counselors themselves think AI = coding. You're correcting that quietly while you correct it for Priya.
Wrap the scenario block:
"OK — three students, three different fears, three different reframes. The pattern is the same: we move from 'will I be replaced?' to 'what tasks are changing, and what evidence can I build?' Now — the toolkit you'll keep on your phone."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TOOLKIT — about 3 to 4 minutes.
This is the slide where you point to the QR code (once we add it). For now: distribute the URL or printed handouts.
Open: "Six questions you can use in any advising conversation. I'm not going to read all six — they're on the page you're scanning. Let me draw your attention to the most useful pair."
Point to questions 1 and 2:
"Question 1 — How might AI show up in this field?
Question 2 — Which tasks might be supported by AI? Which still need human judgment?
Those two together do most of the work in a real conversation. They take the abstract anxiety and turn it into something you can actually explore with a student."
Point to question 4:
"Question 4 is the one that turns a conversation into a plan: What's one piece of evidence — a project, certificate, or course — you could build this year? That moves the student from talking to doing."
Point to question 6:
"Question 6 — how can you use AI responsibly while still doing your own thinking? That one matters for academic integrity. It's also a good prompt for parents."
You don't need to walk through every question. Just establish that the toolkit is yours — they can take it home and use it anytime.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PATHWAY ANCHORS — about 3 to 4 minutes.
This is your direction-pointer slide. Frame it regionally, not institutionally.
"Wherever you are in our region, your students have access to several types of pathways. I'm not going to tell you which college to refer to — you know your students better than I do. But every counselor in this room should know these five categories."
Walk the left column briefly:
"Dual enrollment with CCAP — that's the big one. Tuition-free college credit for high school students. College Promise programs — most districts have a version. Strong Workforce CTE — career education with real labor-market outcomes. Industry certificates — short, stackable, employer-recognized. And work-based learning — internships, apprenticeships, the real-world piece."
Pivot to the right column:
"And here's why you should believe in them — these outcomes are real. 165,000 California students used dual enrollment last year — almost a third of them in our region. Strong Workforce: 74 percent job placement, 47 percent reach a living wage. That's what completion looks like."
You can mention LBCC as one example: "At LBCC where I am, our College Promise covers two years and we have 30+ Career Education programs. Your local college will have its own version of each of these categories. Use what your students have access to."
Land it: "These pathways already exist. The work isn't building them — it's making sure students see them."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CLOSE — about 4 minutes total.
Slow down. Don't rush this slide. The temptation at the end of a session is to wrap quickly because you're tired. Resist it. The close is when the message either lands or evaporates.
Set up the commitment:
"Before you leave this room, pick one thing. One advising question, one phrase, one resource — that you'll try with a student in the next two weeks. Take 30 seconds in silence."
HOLD THE SILENCE. Don't fill it. 30 full seconds is longer than feels comfortable. Let it be uncomfortable. People are actually thinking.
After 30 seconds:
"If you have a partner from earlier, take 60 seconds to share what you picked. Sometimes saying it out loud makes it stick."
[Pair-share if time allows.]
Now the closing line. Deliver it slowly. Eye contact across the room. Then stop.
"Students don't need to fear AI. They need a counselor who helps them see the tasks, build the skills, and earn the evidence. That's you."
Pause. Smile.
Then advance to the next slide — the park slide with the QR. The framing for Q&amp;A and pair-share lives there. This slide is the punctuation mark; slide 16 is the reference card.
Don't fill silence on this slide. Don't say "uhh" or add a postscript. Land the line, pause, then move 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PARK SLIDE — stays up during final pair-share and Q&amp;A.
Once you've delivered the closing line on slide 15 ("That's you."), advance to this slide. Slide 15 is the punctuation mark. This slide is the reference card.
Brief framing as you transition:
"I'll leave this up while we wrap. Six questions on the left for quick recall — same toolkit you scanned earlier, just compressed. The QR pulls everything we covered today plus the slides themselves. My contact info is on screen — feel free to email me after the conference. I'm happy to follow up with anyone who wants to push further on any of this."
Then take questions, hold pair-share if rotation allows.
Don't talk over this slide for long — its job is to be a passive reference. After the framing line, give the room 2-3 minutes of quiet / discussion / Q&amp;A. Stand near the door if you can — it makes you reachable for the people who'd rather ask one-on-one than in front of the room.
For repeat rotations: this is also where you check the time. If a rotation runs long because of strong Q&amp;A, this slide gives you the natural break point. "We'll need to wrap so the next group can come in — but the QR has everything, and I'm by the door."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366"/>
        </a:solidFill>
        <a:effectLst/>
      </p:bgPr>
    </p:bg>
    <p:spTree>
      <p:nvGrpSpPr>
        <p:cNvPr id="1" name=""/>
        <p:cNvGrpSpPr/>
        <p:nvPr/>
      </p:nvGrpSpPr>
      <p:grpSpPr>
        <a:xfrm>
          <a:off x="0" y="0"/>
          <a:ext cx="0" cy="0"/>
          <a:chOff x="0" y="0"/>
          <a:chExt cx="0" cy="0"/>
        </a:xfrm>
      </p:grpSpPr>
      <p:sp>
        <p:nvSpPr>
          <p:cNvPr id="2" name="Shape 0"/>
          <p:cNvSpPr/>
          <p:nvPr/>
        </p:nvSpPr>
        <p:spPr>
          <a:xfrm>
            <a:off x="640080" y="640080"/>
            <a:ext cx="1097280" cy="73152"/>
          </a:xfrm>
          <a:prstGeom prst="rect">
            <a:avLst/>
          </a:prstGeom>
          <a:solidFill>
            <a:srgbClr val="FFB81C"/>
          </a:solidFill>
          <a:ln/>
        </p:spPr>
        <p:txBody>
          <a:bodyPr/>
          <a:lstStyle/>
          <a:p>
            <a:endParaRPr lang="en-US"/>
          </a:p>
        </p:txBody>
      </p:sp>
      <p:sp>
        <p:nvSpPr>
          <p:cNvPr id="3" name="Text 1"/>
          <p:cNvSpPr/>
          <p:nvPr/>
        </p:nvSpPr>
        <p:spPr>
          <a:xfrm>
            <a:off x="640080" y="868680"/>
            <a:ext cx="10972800" cy="365760"/>
          </a:xfrm>
          <a:prstGeom prst="rect">
            <a:avLst/>
          </a:prstGeom>
          <a:noFill/>
          <a:ln/>
        </p:spPr>
        <p:txBody>
          <a:bodyPr wrap="square" lIns="0" tIns="0" rIns="0" bIns="0" rtlCol="0" anchor="ctr"/>
          <a:lstStyle/>
          <a:p>
            <a:pPr marL="0" indent="0">
              <a:buNone/>
            </a:pPr>
            <a:r>
              <a:rPr lang="en-US" sz="1200" b="1" kern="0" spc="400" dirty="0">
                <a:solidFill>
                  <a:srgbClr val="FFB81C"/>
                </a:solidFill>
                <a:latin typeface="Calibri" pitchFamily="34" charset="0"/>
                <a:ea typeface="Calibri" pitchFamily="34" charset="-122"/>
                <a:cs typeface="Calibri" pitchFamily="34" charset="-120"/>
              </a:rPr>
              <a:t>LARC K–16 COUNSELOR SUMMIT  ·  BREAKOUT 5</a:t>
            </a:r>
            <a:endParaRPr lang="en-US" sz="1200" dirty="0"/>
          </a:p>
        </p:txBody>
      </p:sp>
      <p:sp>
        <p:nvSpPr>
          <p:cNvPr id="4" name="Text 2"/>
          <p:cNvSpPr/>
          <p:nvPr/>
        </p:nvSpPr>
        <p:spPr>
          <a:xfrm>
            <a:off x="640080" y="1828800"/>
            <a:ext cx="10972800" cy="1280160"/>
          </a:xfrm>
          <a:prstGeom prst="rect">
            <a:avLst/>
          </a:prstGeom>
          <a:noFill/>
          <a:ln/>
        </p:spPr>
        <p:txBody>
          <a:bodyPr wrap="square" lIns="0" tIns="0" rIns="0" bIns="0" rtlCol="0" anchor="ctr"/>
          <a:lstStyle/>
          <a:p>
            <a:pPr marL="0" indent="0">
              <a:buNone/>
            </a:pPr>
            <a:r>
              <a:rPr lang="en-US" sz="8800" b="1" dirty="0">
                <a:solidFill>
                  <a:srgbClr val="FFFFFF"/>
                </a:solidFill>
                <a:latin typeface="Georgia" pitchFamily="34" charset="0"/>
                <a:ea typeface="Georgia" pitchFamily="34" charset="-122"/>
                <a:cs typeface="Georgia" pitchFamily="34" charset="-120"/>
              </a:rPr>
              <a:t>Tasks,</a:t>
            </a:r>
            <a:endParaRPr lang="en-US" sz="8800" dirty="0"/>
          </a:p>
        </p:txBody>
      </p:sp>
      <p:sp>
        <p:nvSpPr>
          <p:cNvPr id="5" name="Text 3"/>
          <p:cNvSpPr/>
          <p:nvPr/>
        </p:nvSpPr>
        <p:spPr>
          <a:xfrm>
            <a:off x="640080" y="2834640"/>
            <a:ext cx="10972800" cy="1280160"/>
          </a:xfrm>
          <a:prstGeom prst="rect">
            <a:avLst/>
          </a:prstGeom>
          <a:noFill/>
          <a:ln/>
        </p:spPr>
        <p:txBody>
          <a:bodyPr wrap="square" lIns="0" tIns="0" rIns="0" bIns="0" rtlCol="0" anchor="ctr"/>
          <a:lstStyle/>
          <a:p>
            <a:pPr marL="0" indent="0">
              <a:buNone/>
            </a:pPr>
            <a:r>
              <a:rPr lang="en-US" sz="8800" b="1" i="1" dirty="0">
                <a:solidFill>
                  <a:srgbClr val="FFB81C"/>
                </a:solidFill>
                <a:latin typeface="Georgia" pitchFamily="34" charset="0"/>
                <a:ea typeface="Georgia" pitchFamily="34" charset="-122"/>
                <a:cs typeface="Georgia" pitchFamily="34" charset="-120"/>
              </a:rPr>
              <a:t>Not Just Jobs.</a:t>
            </a:r>
            <a:endParaRPr lang="en-US" sz="8800" dirty="0"/>
          </a:p>
        </p:txBody>
      </p:sp>
      <p:sp>
        <p:nvSpPr>
          <p:cNvPr id="6" name="Text 4"/>
          <p:cNvSpPr/>
          <p:nvPr/>
        </p:nvSpPr>
        <p:spPr>
          <a:xfrm>
            <a:off x="640080" y="4297680"/>
            <a:ext cx="10972800" cy="548640"/>
          </a:xfrm>
          <a:prstGeom prst="rect">
            <a:avLst/>
          </a:prstGeom>
          <a:noFill/>
          <a:ln/>
        </p:spPr>
        <p:txBody>
          <a:bodyPr wrap="square" lIns="0" tIns="0" rIns="0" bIns="0" rtlCol="0" anchor="ctr"/>
          <a:lstStyle/>
          <a:p>
            <a:pPr marL="0" indent="0">
              <a:buNone/>
            </a:pPr>
            <a:r>
              <a:rPr lang="en-US" sz="2200" dirty="0">
                <a:solidFill>
                  <a:srgbClr val="FFFFFF"/>
                </a:solidFill>
                <a:latin typeface="Calibri" pitchFamily="34" charset="0"/>
                <a:ea typeface="Calibri" pitchFamily="34" charset="-122"/>
                <a:cs typeface="Calibri" pitchFamily="34" charset="-120"/>
              </a:rPr>
              <a:t>Helping students thrive in an AI-shaped workforce.</a:t>
            </a:r>
            <a:endParaRPr lang="en-US" sz="2200" dirty="0"/>
          </a:p>
        </p:txBody>
      </p:sp>
      <p:sp>
        <p:nvSpPr>
          <p:cNvPr id="7" name="Shape 5"/>
          <p:cNvSpPr/>
          <p:nvPr/>
        </p:nvSpPr>
        <p:spPr>
          <a:xfrm>
            <a:off x="640080" y="5394960"/>
            <a:ext cx="54864" cy="822960"/>
          </a:xfrm>
          <a:prstGeom prst="rect">
            <a:avLst/>
          </a:prstGeom>
          <a:solidFill>
            <a:srgbClr val="FFB81C"/>
          </a:solidFill>
          <a:ln/>
        </p:spPr>
        <p:txBody>
          <a:bodyPr/>
          <a:lstStyle/>
          <a:p>
            <a:endParaRPr lang="en-US"/>
          </a:p>
        </p:txBody>
      </p:sp>
      <p:sp>
        <p:nvSpPr>
          <p:cNvPr id="8" name="Text 6"/>
          <p:cNvSpPr/>
          <p:nvPr/>
        </p:nvSpPr>
        <p:spPr>
          <a:xfrm>
            <a:off x="868680" y="5394960"/>
            <a:ext cx="7315200" cy="8229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Vincent Calip</a:t>
            </a:r>
            <a:endParaRPr lang="en-US" sz="1600" dirty="0"/>
          </a:p>
          <a:p>
            <a:pPr marL="0" indent="0">
              <a:buNone/>
            </a:pPr>
            <a:r>
              <a:rPr lang="en-US" sz="1300" dirty="0">
                <a:solidFill>
                  <a:srgbClr val="FFFFFF"/>
                </a:solidFill>
                <a:latin typeface="Calibri" pitchFamily="34" charset="0"/>
                <a:ea typeface="Calibri" pitchFamily="34" charset="-122"/>
                <a:cs typeface="Calibri" pitchFamily="34" charset="-120"/>
              </a:rPr>
              <a:t>Associate Professor  ·  Long Beach City College</a:t>
            </a:r>
            <a:endParaRPr lang="en-US" sz="16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40080"/>
            <a:ext cx="10972800" cy="365760"/>
          </a:xfrm>
          <a:prstGeom prst="rect">
            <a:avLst/>
          </a:prstGeom>
          <a:noFill/>
          <a:ln/>
        </p:spPr>
        <p:txBody>
          <a:bodyPr wrap="square" lIns="0" tIns="0" rIns="0" bIns="0" rtlCol="0" anchor="ctr"/>
          <a:lstStyle/>
          <a:p>
            <a:pPr marL="0" indent="0">
              <a:buNone/>
            </a:pPr>
            <a:r>
              <a:rPr lang="en-US" sz="1100" b="1" kern="0" spc="400" dirty="0">
                <a:solidFill>
                  <a:srgbClr val="FFB81C"/>
                </a:solidFill>
                <a:latin typeface="Calibri" pitchFamily="34" charset="0"/>
                <a:ea typeface="Calibri" pitchFamily="34" charset="-122"/>
                <a:cs typeface="Calibri" pitchFamily="34" charset="-120"/>
              </a:rPr>
              <a:t>BEFORE WE BEGIN</a:t>
            </a:r>
            <a:endParaRPr lang="en-US" sz="1100" dirty="0"/>
          </a:p>
        </p:txBody>
      </p:sp>
      <p:sp>
        <p:nvSpPr>
          <p:cNvPr id="3" name="Text 1"/>
          <p:cNvSpPr/>
          <p:nvPr/>
        </p:nvSpPr>
        <p:spPr>
          <a:xfrm>
            <a:off x="640080" y="1554480"/>
            <a:ext cx="10972800" cy="3840480"/>
          </a:xfrm>
          <a:prstGeom prst="rect">
            <a:avLst/>
          </a:prstGeom>
          <a:noFill/>
          <a:ln/>
        </p:spPr>
        <p:txBody>
          <a:bodyPr wrap="square" lIns="0" tIns="0" rIns="0" bIns="0" rtlCol="0" anchor="t"/>
          <a:lstStyle/>
          <a:p>
            <a:pPr marL="0" indent="0">
              <a:buNone/>
            </a:pPr>
            <a:r>
              <a:rPr lang="en-US" sz="4400" dirty="0">
                <a:solidFill>
                  <a:srgbClr val="1A1A1A"/>
                </a:solidFill>
                <a:latin typeface="Georgia" pitchFamily="34" charset="0"/>
                <a:ea typeface="Georgia" pitchFamily="34" charset="-122"/>
                <a:cs typeface="Georgia" pitchFamily="34" charset="-120"/>
              </a:rPr>
              <a:t>In the past month,</a:t>
            </a:r>
            <a:endParaRPr lang="en-US" sz="4400" dirty="0"/>
          </a:p>
          <a:p>
            <a:pPr marL="0" indent="0">
              <a:buNone/>
            </a:pPr>
            <a:r>
              <a:rPr lang="en-US" sz="4400" dirty="0">
                <a:solidFill>
                  <a:srgbClr val="1A1A1A"/>
                </a:solidFill>
                <a:latin typeface="Georgia" pitchFamily="34" charset="0"/>
                <a:ea typeface="Georgia" pitchFamily="34" charset="-122"/>
                <a:cs typeface="Georgia" pitchFamily="34" charset="-120"/>
              </a:rPr>
              <a:t>how many of you have had a student ask if their career</a:t>
            </a:r>
            <a:endParaRPr lang="en-US" sz="4400" dirty="0"/>
          </a:p>
          <a:p>
            <a:pPr marL="0" indent="0">
              <a:buNone/>
            </a:pPr>
            <a:r>
              <a:rPr lang="en-US" sz="4400" b="1" i="1" dirty="0">
                <a:solidFill>
                  <a:srgbClr val="003366"/>
                </a:solidFill>
                <a:latin typeface="Georgia" pitchFamily="34" charset="0"/>
                <a:ea typeface="Georgia" pitchFamily="34" charset="-122"/>
                <a:cs typeface="Georgia" pitchFamily="34" charset="-120"/>
              </a:rPr>
              <a:t>will be replaced by AI?</a:t>
            </a:r>
            <a:endParaRPr lang="en-US" sz="4400" dirty="0"/>
          </a:p>
        </p:txBody>
      </p:sp>
      <p:sp>
        <p:nvSpPr>
          <p:cNvPr id="4" name="Shape 2"/>
          <p:cNvSpPr/>
          <p:nvPr/>
        </p:nvSpPr>
        <p:spPr>
          <a:xfrm>
            <a:off x="640080" y="5669280"/>
            <a:ext cx="228600" cy="228600"/>
          </a:xfrm>
          <a:prstGeom prst="ellipse">
            <a:avLst/>
          </a:prstGeom>
          <a:solidFill>
            <a:srgbClr val="FFB81C"/>
          </a:solidFill>
          <a:ln/>
        </p:spPr>
        <p:txBody>
          <a:bodyPr/>
          <a:lstStyle/>
          <a:p>
            <a:endParaRPr lang="en-US"/>
          </a:p>
        </p:txBody>
      </p:sp>
      <p:sp>
        <p:nvSpPr>
          <p:cNvPr id="5" name="Text 3"/>
          <p:cNvSpPr/>
          <p:nvPr/>
        </p:nvSpPr>
        <p:spPr>
          <a:xfrm>
            <a:off x="960120" y="5623560"/>
            <a:ext cx="10058400" cy="365760"/>
          </a:xfrm>
          <a:prstGeom prst="rect">
            <a:avLst/>
          </a:prstGeom>
          <a:noFill/>
          <a:ln/>
        </p:spPr>
        <p:txBody>
          <a:bodyPr wrap="square" lIns="0" tIns="0" rIns="0" bIns="0" rtlCol="0" anchor="ctr"/>
          <a:lstStyle/>
          <a:p>
            <a:pPr marL="0" indent="0">
              <a:buNone/>
            </a:pPr>
            <a:r>
              <a:rPr lang="en-US" sz="1400" i="1" dirty="0">
                <a:solidFill>
                  <a:srgbClr val="4A5568"/>
                </a:solidFill>
                <a:latin typeface="Calibri" pitchFamily="34" charset="0"/>
                <a:ea typeface="Calibri" pitchFamily="34" charset="-122"/>
                <a:cs typeface="Calibri" pitchFamily="34" charset="-120"/>
              </a:rPr>
              <a:t>Hold that thought. We're going to learn a better question to ask back.</a:t>
            </a:r>
            <a:endParaRPr lang="en-US" sz="1400" dirty="0"/>
          </a:p>
        </p:txBody>
      </p:sp>
      <p:sp>
        <p:nvSpPr>
          <p:cNvPr id="6" name="Text 4"/>
          <p:cNvSpPr/>
          <p:nvPr/>
        </p:nvSpPr>
        <p:spPr>
          <a:xfrm>
            <a:off x="457200" y="6492240"/>
            <a:ext cx="7315200" cy="274320"/>
          </a:xfrm>
          <a:prstGeom prst="rect">
            <a:avLst/>
          </a:prstGeom>
          <a:noFill/>
          <a:ln/>
        </p:spPr>
        <p:txBody>
          <a:bodyPr wrap="square" lIns="0" tIns="0" rIns="0" bIns="0" rtlCol="0" anchor="ctr"/>
          <a:lstStyle/>
          <a:p>
            <a:pPr marL="0" indent="0" algn="l">
              <a:buNone/>
            </a:pPr>
            <a:r>
              <a:rPr lang="en-US" sz="900" dirty="0">
                <a:solidFill>
                  <a:srgbClr val="4A5568"/>
                </a:solidFill>
                <a:latin typeface="Calibri" pitchFamily="34" charset="0"/>
                <a:ea typeface="Calibri" pitchFamily="34" charset="-122"/>
                <a:cs typeface="Calibri" pitchFamily="34" charset="-120"/>
              </a:rPr>
              <a:t>LARC K–16 Counselor Summit  ·  Vincent Calip, LBCC</a:t>
            </a:r>
            <a:endParaRPr lang="en-US" sz="900" dirty="0"/>
          </a:p>
        </p:txBody>
      </p:sp>
      <p:sp>
        <p:nvSpPr>
          <p:cNvPr id="7" name="Text 5"/>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2 / 16</a:t>
            </a:r>
            <a:endParaRPr lang="en-US" sz="9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40080"/>
            <a:ext cx="10972800" cy="365760"/>
          </a:xfrm>
          <a:prstGeom prst="rect">
            <a:avLst/>
          </a:prstGeom>
          <a:noFill/>
          <a:ln/>
        </p:spPr>
        <p:txBody>
          <a:bodyPr wrap="square" lIns="0" tIns="0" rIns="0" bIns="0" rtlCol="0" anchor="ctr"/>
          <a:lstStyle/>
          <a:p>
            <a:pPr marL="0" indent="0">
              <a:buNone/>
            </a:pPr>
            <a:r>
              <a:rPr lang="en-US" sz="1100" b="1" kern="0" spc="400" dirty="0">
                <a:solidFill>
                  <a:srgbClr val="FFB81C"/>
                </a:solidFill>
                <a:latin typeface="Calibri" pitchFamily="34" charset="0"/>
                <a:ea typeface="Calibri" pitchFamily="34" charset="-122"/>
                <a:cs typeface="Calibri" pitchFamily="34" charset="-120"/>
              </a:rPr>
              <a:t>THE REFRAME</a:t>
            </a:r>
            <a:endParaRPr lang="en-US" sz="1100" dirty="0"/>
          </a:p>
        </p:txBody>
      </p:sp>
      <p:sp>
        <p:nvSpPr>
          <p:cNvPr id="3" name="Text 1"/>
          <p:cNvSpPr/>
          <p:nvPr/>
        </p:nvSpPr>
        <p:spPr>
          <a:xfrm>
            <a:off x="640080" y="1097280"/>
            <a:ext cx="10972800" cy="1097280"/>
          </a:xfrm>
          <a:prstGeom prst="rect">
            <a:avLst/>
          </a:prstGeom>
          <a:noFill/>
          <a:ln/>
        </p:spPr>
        <p:txBody>
          <a:bodyPr wrap="square" lIns="0" tIns="0" rIns="0" bIns="0" rtlCol="0" anchor="ctr"/>
          <a:lstStyle/>
          <a:p>
            <a:pPr marL="0" indent="0">
              <a:buNone/>
            </a:pPr>
            <a:r>
              <a:rPr lang="en-US" sz="5400" b="1" dirty="0">
                <a:solidFill>
                  <a:srgbClr val="1A1A1A"/>
                </a:solidFill>
                <a:latin typeface="Georgia" pitchFamily="34" charset="0"/>
                <a:ea typeface="Georgia" pitchFamily="34" charset="-122"/>
                <a:cs typeface="Georgia" pitchFamily="34" charset="-120"/>
              </a:rPr>
              <a:t>It's not jobs. </a:t>
            </a:r>
            <a:r>
              <a:rPr lang="en-US" sz="5400" b="1" i="1" dirty="0">
                <a:solidFill>
                  <a:srgbClr val="003366"/>
                </a:solidFill>
                <a:latin typeface="Georgia" pitchFamily="34" charset="0"/>
                <a:ea typeface="Georgia" pitchFamily="34" charset="-122"/>
                <a:cs typeface="Georgia" pitchFamily="34" charset="-120"/>
              </a:rPr>
              <a:t>It's tasks.</a:t>
            </a:r>
            <a:endParaRPr lang="en-US" sz="5400" dirty="0"/>
          </a:p>
        </p:txBody>
      </p:sp>
      <p:sp>
        <p:nvSpPr>
          <p:cNvPr id="4" name="Text 2"/>
          <p:cNvSpPr/>
          <p:nvPr/>
        </p:nvSpPr>
        <p:spPr>
          <a:xfrm>
            <a:off x="640080" y="2377440"/>
            <a:ext cx="10972800" cy="640080"/>
          </a:xfrm>
          <a:prstGeom prst="rect">
            <a:avLst/>
          </a:prstGeom>
          <a:noFill/>
          <a:ln/>
        </p:spPr>
        <p:txBody>
          <a:bodyPr wrap="square" lIns="0" tIns="0" rIns="0" bIns="0" rtlCol="0" anchor="ctr"/>
          <a:lstStyle/>
          <a:p>
            <a:pPr marL="0" indent="0">
              <a:buNone/>
            </a:pPr>
            <a:r>
              <a:rPr lang="en-US" sz="1700" dirty="0">
                <a:solidFill>
                  <a:srgbClr val="4A5568"/>
                </a:solidFill>
                <a:latin typeface="Calibri" pitchFamily="34" charset="0"/>
                <a:ea typeface="Calibri" pitchFamily="34" charset="-122"/>
                <a:cs typeface="Calibri" pitchFamily="34" charset="-120"/>
              </a:rPr>
              <a:t>Most jobs aren't disappearing. They're being redesigned around new tasks — and that means new skills.</a:t>
            </a:r>
            <a:endParaRPr lang="en-US" sz="1700" dirty="0"/>
          </a:p>
        </p:txBody>
      </p:sp>
      <p:sp>
        <p:nvSpPr>
          <p:cNvPr id="5" name="Shape 3"/>
          <p:cNvSpPr/>
          <p:nvPr/>
        </p:nvSpPr>
        <p:spPr>
          <a:xfrm>
            <a:off x="640080" y="3383280"/>
            <a:ext cx="3611880" cy="2743200"/>
          </a:xfrm>
          <a:prstGeom prst="rect">
            <a:avLst/>
          </a:prstGeom>
          <a:solidFill>
            <a:srgbClr val="FAF7F0"/>
          </a:solidFill>
          <a:ln/>
        </p:spPr>
        <p:txBody>
          <a:bodyPr/>
          <a:lstStyle/>
          <a:p>
            <a:endParaRPr lang="en-US"/>
          </a:p>
        </p:txBody>
      </p:sp>
      <p:sp>
        <p:nvSpPr>
          <p:cNvPr id="6" name="Shape 4"/>
          <p:cNvSpPr/>
          <p:nvPr/>
        </p:nvSpPr>
        <p:spPr>
          <a:xfrm>
            <a:off x="640080" y="3383280"/>
            <a:ext cx="73152" cy="2743200"/>
          </a:xfrm>
          <a:prstGeom prst="rect">
            <a:avLst/>
          </a:prstGeom>
          <a:solidFill>
            <a:srgbClr val="FFB81C"/>
          </a:solidFill>
          <a:ln/>
        </p:spPr>
        <p:txBody>
          <a:bodyPr/>
          <a:lstStyle/>
          <a:p>
            <a:endParaRPr lang="en-US"/>
          </a:p>
        </p:txBody>
      </p:sp>
      <p:sp>
        <p:nvSpPr>
          <p:cNvPr id="7" name="Text 5"/>
          <p:cNvSpPr/>
          <p:nvPr/>
        </p:nvSpPr>
        <p:spPr>
          <a:xfrm>
            <a:off x="914400" y="3566160"/>
            <a:ext cx="3246120" cy="1280160"/>
          </a:xfrm>
          <a:prstGeom prst="rect">
            <a:avLst/>
          </a:prstGeom>
          <a:noFill/>
          <a:ln/>
        </p:spPr>
        <p:txBody>
          <a:bodyPr wrap="square" lIns="0" tIns="0" rIns="0" bIns="0" rtlCol="0" anchor="ctr"/>
          <a:lstStyle/>
          <a:p>
            <a:pPr marL="0" indent="0">
              <a:buNone/>
            </a:pPr>
            <a:r>
              <a:rPr lang="en-US" sz="7200" b="1" dirty="0">
                <a:solidFill>
                  <a:srgbClr val="003366"/>
                </a:solidFill>
                <a:latin typeface="Georgia" pitchFamily="34" charset="0"/>
                <a:ea typeface="Georgia" pitchFamily="34" charset="-122"/>
                <a:cs typeface="Georgia" pitchFamily="34" charset="-120"/>
              </a:rPr>
              <a:t>39%</a:t>
            </a:r>
            <a:endParaRPr lang="en-US" sz="7200" dirty="0"/>
          </a:p>
        </p:txBody>
      </p:sp>
      <p:sp>
        <p:nvSpPr>
          <p:cNvPr id="8" name="Text 6"/>
          <p:cNvSpPr/>
          <p:nvPr/>
        </p:nvSpPr>
        <p:spPr>
          <a:xfrm>
            <a:off x="914400" y="4892040"/>
            <a:ext cx="3246120" cy="777240"/>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of workers' core skills are expected to change by 2030</a:t>
            </a:r>
            <a:endParaRPr lang="en-US" sz="1400" dirty="0"/>
          </a:p>
        </p:txBody>
      </p:sp>
      <p:sp>
        <p:nvSpPr>
          <p:cNvPr id="9" name="Text 7"/>
          <p:cNvSpPr/>
          <p:nvPr/>
        </p:nvSpPr>
        <p:spPr>
          <a:xfrm>
            <a:off x="914400" y="5715000"/>
            <a:ext cx="3246120" cy="320040"/>
          </a:xfrm>
          <a:prstGeom prst="rect">
            <a:avLst/>
          </a:prstGeom>
          <a:noFill/>
          <a:ln/>
        </p:spPr>
        <p:txBody>
          <a:bodyPr wrap="square" lIns="0" tIns="0" rIns="0" bIns="0"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WEF · Future of Jobs 2025</a:t>
            </a:r>
            <a:endParaRPr lang="en-US" sz="900" dirty="0"/>
          </a:p>
        </p:txBody>
      </p:sp>
      <p:sp>
        <p:nvSpPr>
          <p:cNvPr id="10" name="Shape 8"/>
          <p:cNvSpPr/>
          <p:nvPr/>
        </p:nvSpPr>
        <p:spPr>
          <a:xfrm>
            <a:off x="4480560" y="3383280"/>
            <a:ext cx="3611880" cy="2743200"/>
          </a:xfrm>
          <a:prstGeom prst="rect">
            <a:avLst/>
          </a:prstGeom>
          <a:solidFill>
            <a:srgbClr val="FAF7F0"/>
          </a:solidFill>
          <a:ln/>
        </p:spPr>
        <p:txBody>
          <a:bodyPr/>
          <a:lstStyle/>
          <a:p>
            <a:endParaRPr lang="en-US"/>
          </a:p>
        </p:txBody>
      </p:sp>
      <p:sp>
        <p:nvSpPr>
          <p:cNvPr id="11" name="Shape 9"/>
          <p:cNvSpPr/>
          <p:nvPr/>
        </p:nvSpPr>
        <p:spPr>
          <a:xfrm>
            <a:off x="4480560" y="3383280"/>
            <a:ext cx="73152" cy="2743200"/>
          </a:xfrm>
          <a:prstGeom prst="rect">
            <a:avLst/>
          </a:prstGeom>
          <a:solidFill>
            <a:srgbClr val="FFB81C"/>
          </a:solidFill>
          <a:ln/>
        </p:spPr>
        <p:txBody>
          <a:bodyPr/>
          <a:lstStyle/>
          <a:p>
            <a:endParaRPr lang="en-US"/>
          </a:p>
        </p:txBody>
      </p:sp>
      <p:sp>
        <p:nvSpPr>
          <p:cNvPr id="12" name="Text 10"/>
          <p:cNvSpPr/>
          <p:nvPr/>
        </p:nvSpPr>
        <p:spPr>
          <a:xfrm>
            <a:off x="4754880" y="3566160"/>
            <a:ext cx="3246120" cy="1280160"/>
          </a:xfrm>
          <a:prstGeom prst="rect">
            <a:avLst/>
          </a:prstGeom>
          <a:noFill/>
          <a:ln/>
        </p:spPr>
        <p:txBody>
          <a:bodyPr wrap="square" lIns="0" tIns="0" rIns="0" bIns="0" rtlCol="0" anchor="ctr"/>
          <a:lstStyle/>
          <a:p>
            <a:pPr marL="0" indent="0">
              <a:buNone/>
            </a:pPr>
            <a:r>
              <a:rPr lang="en-US" sz="7200" b="1" dirty="0">
                <a:solidFill>
                  <a:srgbClr val="003366"/>
                </a:solidFill>
                <a:latin typeface="Georgia" pitchFamily="34" charset="0"/>
                <a:ea typeface="Georgia" pitchFamily="34" charset="-122"/>
                <a:cs typeface="Georgia" pitchFamily="34" charset="-120"/>
              </a:rPr>
              <a:t>70%</a:t>
            </a:r>
            <a:endParaRPr lang="en-US" sz="7200" dirty="0"/>
          </a:p>
        </p:txBody>
      </p:sp>
      <p:sp>
        <p:nvSpPr>
          <p:cNvPr id="13" name="Text 11"/>
          <p:cNvSpPr/>
          <p:nvPr/>
        </p:nvSpPr>
        <p:spPr>
          <a:xfrm>
            <a:off x="4754880" y="4892040"/>
            <a:ext cx="3246120" cy="777240"/>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of skills used in most jobs are projected to change by 2030</a:t>
            </a:r>
            <a:endParaRPr lang="en-US" sz="1400" dirty="0"/>
          </a:p>
        </p:txBody>
      </p:sp>
      <p:sp>
        <p:nvSpPr>
          <p:cNvPr id="14" name="Text 12"/>
          <p:cNvSpPr/>
          <p:nvPr/>
        </p:nvSpPr>
        <p:spPr>
          <a:xfrm>
            <a:off x="4754880" y="5715000"/>
            <a:ext cx="3246120" cy="320040"/>
          </a:xfrm>
          <a:prstGeom prst="rect">
            <a:avLst/>
          </a:prstGeom>
          <a:noFill/>
          <a:ln/>
        </p:spPr>
        <p:txBody>
          <a:bodyPr wrap="square" lIns="0" tIns="0" rIns="0" bIns="0"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LinkedIn · Work Change Report 2025</a:t>
            </a:r>
            <a:endParaRPr lang="en-US" sz="900" dirty="0"/>
          </a:p>
        </p:txBody>
      </p:sp>
      <p:sp>
        <p:nvSpPr>
          <p:cNvPr id="15" name="Shape 13"/>
          <p:cNvSpPr/>
          <p:nvPr/>
        </p:nvSpPr>
        <p:spPr>
          <a:xfrm>
            <a:off x="8321040" y="3383280"/>
            <a:ext cx="3611880" cy="2743200"/>
          </a:xfrm>
          <a:prstGeom prst="rect">
            <a:avLst/>
          </a:prstGeom>
          <a:solidFill>
            <a:srgbClr val="FAF7F0"/>
          </a:solidFill>
          <a:ln/>
        </p:spPr>
        <p:txBody>
          <a:bodyPr/>
          <a:lstStyle/>
          <a:p>
            <a:endParaRPr lang="en-US"/>
          </a:p>
        </p:txBody>
      </p:sp>
      <p:sp>
        <p:nvSpPr>
          <p:cNvPr id="16" name="Shape 14"/>
          <p:cNvSpPr/>
          <p:nvPr/>
        </p:nvSpPr>
        <p:spPr>
          <a:xfrm>
            <a:off x="8321040" y="3383280"/>
            <a:ext cx="73152" cy="2743200"/>
          </a:xfrm>
          <a:prstGeom prst="rect">
            <a:avLst/>
          </a:prstGeom>
          <a:solidFill>
            <a:srgbClr val="FFB81C"/>
          </a:solidFill>
          <a:ln/>
        </p:spPr>
        <p:txBody>
          <a:bodyPr/>
          <a:lstStyle/>
          <a:p>
            <a:endParaRPr lang="en-US"/>
          </a:p>
        </p:txBody>
      </p:sp>
      <p:sp>
        <p:nvSpPr>
          <p:cNvPr id="17" name="Text 15"/>
          <p:cNvSpPr/>
          <p:nvPr/>
        </p:nvSpPr>
        <p:spPr>
          <a:xfrm>
            <a:off x="8595360" y="3566160"/>
            <a:ext cx="3246120" cy="1280160"/>
          </a:xfrm>
          <a:prstGeom prst="rect">
            <a:avLst/>
          </a:prstGeom>
          <a:noFill/>
          <a:ln/>
        </p:spPr>
        <p:txBody>
          <a:bodyPr wrap="square" lIns="0" tIns="0" rIns="0" bIns="0" rtlCol="0" anchor="ctr"/>
          <a:lstStyle/>
          <a:p>
            <a:pPr marL="0" indent="0">
              <a:buNone/>
            </a:pPr>
            <a:r>
              <a:rPr lang="en-US" sz="7200" b="1" dirty="0">
                <a:solidFill>
                  <a:srgbClr val="003366"/>
                </a:solidFill>
                <a:latin typeface="Georgia" pitchFamily="34" charset="0"/>
                <a:ea typeface="Georgia" pitchFamily="34" charset="-122"/>
                <a:cs typeface="Georgia" pitchFamily="34" charset="-120"/>
              </a:rPr>
              <a:t>66%</a:t>
            </a:r>
            <a:endParaRPr lang="en-US" sz="7200" dirty="0"/>
          </a:p>
        </p:txBody>
      </p:sp>
      <p:sp>
        <p:nvSpPr>
          <p:cNvPr id="18" name="Text 16"/>
          <p:cNvSpPr/>
          <p:nvPr/>
        </p:nvSpPr>
        <p:spPr>
          <a:xfrm>
            <a:off x="8595360" y="4892040"/>
            <a:ext cx="3246120" cy="777240"/>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faster skill turnover in the most AI-exposed jobs vs. least exposed</a:t>
            </a:r>
            <a:endParaRPr lang="en-US" sz="1400" dirty="0"/>
          </a:p>
        </p:txBody>
      </p:sp>
      <p:sp>
        <p:nvSpPr>
          <p:cNvPr id="19" name="Text 17"/>
          <p:cNvSpPr/>
          <p:nvPr/>
        </p:nvSpPr>
        <p:spPr>
          <a:xfrm>
            <a:off x="8595360" y="5715000"/>
            <a:ext cx="3246120" cy="320040"/>
          </a:xfrm>
          <a:prstGeom prst="rect">
            <a:avLst/>
          </a:prstGeom>
          <a:noFill/>
          <a:ln/>
        </p:spPr>
        <p:txBody>
          <a:bodyPr wrap="square" lIns="0" tIns="0" rIns="0" bIns="0"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PwC · AI Jobs Barometer 2025</a:t>
            </a:r>
            <a:endParaRPr lang="en-US" sz="900" dirty="0"/>
          </a:p>
        </p:txBody>
      </p:sp>
      <p:sp>
        <p:nvSpPr>
          <p:cNvPr id="20" name="Text 18"/>
          <p:cNvSpPr/>
          <p:nvPr/>
        </p:nvSpPr>
        <p:spPr>
          <a:xfrm>
            <a:off x="457200" y="6492240"/>
            <a:ext cx="7315200" cy="274320"/>
          </a:xfrm>
          <a:prstGeom prst="rect">
            <a:avLst/>
          </a:prstGeom>
          <a:noFill/>
          <a:ln/>
        </p:spPr>
        <p:txBody>
          <a:bodyPr wrap="square" lIns="0" tIns="0" rIns="0" bIns="0" rtlCol="0" anchor="ctr"/>
          <a:lstStyle/>
          <a:p>
            <a:pPr marL="0" indent="0" algn="l">
              <a:buNone/>
            </a:pPr>
            <a:r>
              <a:rPr lang="en-US" sz="900" dirty="0">
                <a:solidFill>
                  <a:srgbClr val="4A5568"/>
                </a:solidFill>
                <a:latin typeface="Calibri" pitchFamily="34" charset="0"/>
                <a:ea typeface="Calibri" pitchFamily="34" charset="-122"/>
                <a:cs typeface="Calibri" pitchFamily="34" charset="-120"/>
              </a:rPr>
              <a:t>LARC K–16 Counselor Summit  ·  Vincent Calip, LBCC</a:t>
            </a:r>
            <a:endParaRPr lang="en-US" sz="900" dirty="0"/>
          </a:p>
        </p:txBody>
      </p:sp>
      <p:sp>
        <p:nvSpPr>
          <p:cNvPr id="21" name="Text 19"/>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3 / 16</a:t>
            </a:r>
            <a:endParaRPr lang="en-US" sz="9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40080"/>
            <a:ext cx="10972800" cy="365760"/>
          </a:xfrm>
          <a:prstGeom prst="rect">
            <a:avLst/>
          </a:prstGeom>
          <a:noFill/>
          <a:ln/>
        </p:spPr>
        <p:txBody>
          <a:bodyPr wrap="square" lIns="0" tIns="0" rIns="0" bIns="0" rtlCol="0" anchor="ctr"/>
          <a:lstStyle/>
          <a:p>
            <a:pPr marL="0" indent="0">
              <a:buNone/>
            </a:pPr>
            <a:r>
              <a:rPr lang="en-US" sz="1100" b="1" kern="0" spc="400" dirty="0">
                <a:solidFill>
                  <a:srgbClr val="FFB81C"/>
                </a:solidFill>
                <a:latin typeface="Calibri" pitchFamily="34" charset="0"/>
                <a:ea typeface="Calibri" pitchFamily="34" charset="-122"/>
                <a:cs typeface="Calibri" pitchFamily="34" charset="-120"/>
              </a:rPr>
              <a:t>ONE EXAMPLE</a:t>
            </a:r>
            <a:endParaRPr lang="en-US" sz="1100" dirty="0"/>
          </a:p>
        </p:txBody>
      </p:sp>
      <p:sp>
        <p:nvSpPr>
          <p:cNvPr id="3" name="Text 1"/>
          <p:cNvSpPr/>
          <p:nvPr/>
        </p:nvSpPr>
        <p:spPr>
          <a:xfrm>
            <a:off x="640080" y="1097280"/>
            <a:ext cx="10972800" cy="822960"/>
          </a:xfrm>
          <a:prstGeom prst="rect">
            <a:avLst/>
          </a:prstGeom>
          <a:noFill/>
          <a:ln/>
        </p:spPr>
        <p:txBody>
          <a:bodyPr wrap="square" lIns="0" tIns="0" rIns="0" bIns="0" rtlCol="0" anchor="ctr"/>
          <a:lstStyle/>
          <a:p>
            <a:pPr marL="0" indent="0">
              <a:buNone/>
            </a:pPr>
            <a:r>
              <a:rPr lang="en-US" sz="4200" b="1" dirty="0">
                <a:solidFill>
                  <a:srgbClr val="1A1A1A"/>
                </a:solidFill>
                <a:latin typeface="Georgia" pitchFamily="34" charset="0"/>
                <a:ea typeface="Georgia" pitchFamily="34" charset="-122"/>
                <a:cs typeface="Georgia" pitchFamily="34" charset="-120"/>
              </a:rPr>
              <a:t>Same job. Different tasks.</a:t>
            </a:r>
            <a:endParaRPr lang="en-US" sz="4200" dirty="0"/>
          </a:p>
        </p:txBody>
      </p:sp>
      <p:sp>
        <p:nvSpPr>
          <p:cNvPr id="4" name="Text 2"/>
          <p:cNvSpPr/>
          <p:nvPr/>
        </p:nvSpPr>
        <p:spPr>
          <a:xfrm>
            <a:off x="640080" y="1965960"/>
            <a:ext cx="10972800" cy="457200"/>
          </a:xfrm>
          <a:prstGeom prst="rect">
            <a:avLst/>
          </a:prstGeom>
          <a:noFill/>
          <a:ln/>
        </p:spPr>
        <p:txBody>
          <a:bodyPr wrap="square" lIns="0" tIns="0" rIns="0" bIns="0" rtlCol="0" anchor="ctr"/>
          <a:lstStyle/>
          <a:p>
            <a:pPr marL="0" indent="0">
              <a:buNone/>
            </a:pPr>
            <a:r>
              <a:rPr lang="en-US" sz="1600" i="1" dirty="0">
                <a:solidFill>
                  <a:srgbClr val="4A5568"/>
                </a:solidFill>
                <a:latin typeface="Calibri" pitchFamily="34" charset="0"/>
                <a:ea typeface="Calibri" pitchFamily="34" charset="-122"/>
                <a:cs typeface="Calibri" pitchFamily="34" charset="-120"/>
              </a:rPr>
              <a:t>A medical assistant — a decade ago, and today.</a:t>
            </a:r>
            <a:endParaRPr lang="en-US" sz="1600" dirty="0"/>
          </a:p>
        </p:txBody>
      </p:sp>
      <p:sp>
        <p:nvSpPr>
          <p:cNvPr id="5" name="Shape 3"/>
          <p:cNvSpPr/>
          <p:nvPr/>
        </p:nvSpPr>
        <p:spPr>
          <a:xfrm>
            <a:off x="640080" y="2834640"/>
            <a:ext cx="5440680" cy="3200400"/>
          </a:xfrm>
          <a:prstGeom prst="rect">
            <a:avLst/>
          </a:prstGeom>
          <a:solidFill>
            <a:srgbClr val="FAF7F0"/>
          </a:solidFill>
          <a:ln/>
        </p:spPr>
        <p:txBody>
          <a:bodyPr/>
          <a:lstStyle/>
          <a:p>
            <a:endParaRPr lang="en-US"/>
          </a:p>
        </p:txBody>
      </p:sp>
      <p:sp>
        <p:nvSpPr>
          <p:cNvPr id="6" name="Text 4"/>
          <p:cNvSpPr/>
          <p:nvPr/>
        </p:nvSpPr>
        <p:spPr>
          <a:xfrm>
            <a:off x="1005840" y="3108960"/>
            <a:ext cx="4892040" cy="365760"/>
          </a:xfrm>
          <a:prstGeom prst="rect">
            <a:avLst/>
          </a:prstGeom>
          <a:noFill/>
          <a:ln/>
        </p:spPr>
        <p:txBody>
          <a:bodyPr wrap="square" lIns="0" tIns="0" rIns="0" bIns="0" rtlCol="0" anchor="ctr"/>
          <a:lstStyle/>
          <a:p>
            <a:pPr marL="0" indent="0">
              <a:buNone/>
            </a:pPr>
            <a:r>
              <a:rPr lang="en-US" sz="1100" b="1" kern="0" spc="400" dirty="0">
                <a:solidFill>
                  <a:srgbClr val="4A5568"/>
                </a:solidFill>
                <a:latin typeface="Calibri" pitchFamily="34" charset="0"/>
                <a:ea typeface="Calibri" pitchFamily="34" charset="-122"/>
                <a:cs typeface="Calibri" pitchFamily="34" charset="-120"/>
              </a:rPr>
              <a:t>THEN</a:t>
            </a:r>
            <a:endParaRPr lang="en-US" sz="1100" dirty="0"/>
          </a:p>
        </p:txBody>
      </p:sp>
      <p:sp>
        <p:nvSpPr>
          <p:cNvPr id="7" name="Text 5"/>
          <p:cNvSpPr/>
          <p:nvPr/>
        </p:nvSpPr>
        <p:spPr>
          <a:xfrm>
            <a:off x="1005840" y="3611880"/>
            <a:ext cx="4892040" cy="2194560"/>
          </a:xfrm>
          <a:prstGeom prst="rect">
            <a:avLst/>
          </a:prstGeom>
          <a:noFill/>
          <a:ln/>
        </p:spPr>
        <p:txBody>
          <a:bodyPr wrap="square" rtlCol="0" anchor="ctr"/>
          <a:lstStyle/>
          <a:p>
            <a:pPr marL="342900" indent="-342900">
              <a:spcAft>
                <a:spcPts val="600"/>
              </a:spcAft>
              <a:buSzPct val="100000"/>
              <a:buChar char="•"/>
            </a:pPr>
            <a:r>
              <a:rPr lang="en-US" sz="1700" dirty="0">
                <a:solidFill>
                  <a:srgbClr val="1A1A1A"/>
                </a:solidFill>
                <a:latin typeface="Calibri" pitchFamily="34" charset="0"/>
                <a:ea typeface="Calibri" pitchFamily="34" charset="-122"/>
                <a:cs typeface="Calibri" pitchFamily="34" charset="-120"/>
              </a:rPr>
              <a:t>Paper charts</a:t>
            </a:r>
            <a:endParaRPr lang="en-US" sz="1700" dirty="0"/>
          </a:p>
          <a:p>
            <a:pPr marL="342900" indent="-342900">
              <a:spcAft>
                <a:spcPts val="600"/>
              </a:spcAft>
              <a:buSzPct val="100000"/>
              <a:buChar char="•"/>
            </a:pPr>
            <a:r>
              <a:rPr lang="en-US" sz="1700" dirty="0">
                <a:solidFill>
                  <a:srgbClr val="1A1A1A"/>
                </a:solidFill>
                <a:latin typeface="Calibri" pitchFamily="34" charset="0"/>
                <a:ea typeface="Calibri" pitchFamily="34" charset="-122"/>
                <a:cs typeface="Calibri" pitchFamily="34" charset="-120"/>
              </a:rPr>
              <a:t>Manual scheduling</a:t>
            </a:r>
            <a:endParaRPr lang="en-US" sz="1700" dirty="0"/>
          </a:p>
          <a:p>
            <a:pPr marL="342900" indent="-342900">
              <a:spcAft>
                <a:spcPts val="600"/>
              </a:spcAft>
              <a:buSzPct val="100000"/>
              <a:buChar char="•"/>
            </a:pPr>
            <a:r>
              <a:rPr lang="en-US" sz="1700" dirty="0">
                <a:solidFill>
                  <a:srgbClr val="1A1A1A"/>
                </a:solidFill>
                <a:latin typeface="Calibri" pitchFamily="34" charset="0"/>
                <a:ea typeface="Calibri" pitchFamily="34" charset="-122"/>
                <a:cs typeface="Calibri" pitchFamily="34" charset="-120"/>
              </a:rPr>
              <a:t>Phone tag with insurance</a:t>
            </a:r>
            <a:endParaRPr lang="en-US" sz="1700" dirty="0"/>
          </a:p>
          <a:p>
            <a:pPr marL="342900" indent="-342900">
              <a:spcAft>
                <a:spcPts val="600"/>
              </a:spcAft>
              <a:buSzPct val="100000"/>
              <a:buChar char="•"/>
            </a:pPr>
            <a:r>
              <a:rPr lang="en-US" sz="1700" dirty="0">
                <a:solidFill>
                  <a:srgbClr val="1A1A1A"/>
                </a:solidFill>
                <a:latin typeface="Calibri" pitchFamily="34" charset="0"/>
                <a:ea typeface="Calibri" pitchFamily="34" charset="-122"/>
                <a:cs typeface="Calibri" pitchFamily="34" charset="-120"/>
              </a:rPr>
              <a:t>Hand-typed referral letters</a:t>
            </a:r>
            <a:endParaRPr lang="en-US" sz="1700" dirty="0"/>
          </a:p>
        </p:txBody>
      </p:sp>
      <p:sp>
        <p:nvSpPr>
          <p:cNvPr id="8" name="Shape 6"/>
          <p:cNvSpPr/>
          <p:nvPr/>
        </p:nvSpPr>
        <p:spPr>
          <a:xfrm>
            <a:off x="6263640" y="2834640"/>
            <a:ext cx="5440680" cy="3200400"/>
          </a:xfrm>
          <a:prstGeom prst="rect">
            <a:avLst/>
          </a:prstGeom>
          <a:solidFill>
            <a:srgbClr val="003366"/>
          </a:solidFill>
          <a:ln/>
        </p:spPr>
        <p:txBody>
          <a:bodyPr/>
          <a:lstStyle/>
          <a:p>
            <a:endParaRPr lang="en-US"/>
          </a:p>
        </p:txBody>
      </p:sp>
      <p:sp>
        <p:nvSpPr>
          <p:cNvPr id="9" name="Shape 7"/>
          <p:cNvSpPr/>
          <p:nvPr/>
        </p:nvSpPr>
        <p:spPr>
          <a:xfrm>
            <a:off x="6263640" y="2834640"/>
            <a:ext cx="73152" cy="3200400"/>
          </a:xfrm>
          <a:prstGeom prst="rect">
            <a:avLst/>
          </a:prstGeom>
          <a:solidFill>
            <a:srgbClr val="FFB81C"/>
          </a:solidFill>
          <a:ln/>
        </p:spPr>
        <p:txBody>
          <a:bodyPr/>
          <a:lstStyle/>
          <a:p>
            <a:endParaRPr lang="en-US"/>
          </a:p>
        </p:txBody>
      </p:sp>
      <p:sp>
        <p:nvSpPr>
          <p:cNvPr id="10" name="Text 8"/>
          <p:cNvSpPr/>
          <p:nvPr/>
        </p:nvSpPr>
        <p:spPr>
          <a:xfrm>
            <a:off x="6629400" y="3108960"/>
            <a:ext cx="4892040" cy="365760"/>
          </a:xfrm>
          <a:prstGeom prst="rect">
            <a:avLst/>
          </a:prstGeom>
          <a:noFill/>
          <a:ln/>
        </p:spPr>
        <p:txBody>
          <a:bodyPr wrap="square" lIns="0" tIns="0" rIns="0" bIns="0" rtlCol="0" anchor="ctr"/>
          <a:lstStyle/>
          <a:p>
            <a:pPr marL="0" indent="0">
              <a:buNone/>
            </a:pPr>
            <a:r>
              <a:rPr lang="en-US" sz="1100" b="1" kern="0" spc="400" dirty="0">
                <a:solidFill>
                  <a:srgbClr val="FFB81C"/>
                </a:solidFill>
                <a:latin typeface="Calibri" pitchFamily="34" charset="0"/>
                <a:ea typeface="Calibri" pitchFamily="34" charset="-122"/>
                <a:cs typeface="Calibri" pitchFamily="34" charset="-120"/>
              </a:rPr>
              <a:t>NOW</a:t>
            </a:r>
            <a:endParaRPr lang="en-US" sz="1100" dirty="0"/>
          </a:p>
        </p:txBody>
      </p:sp>
      <p:sp>
        <p:nvSpPr>
          <p:cNvPr id="11" name="Text 9"/>
          <p:cNvSpPr/>
          <p:nvPr/>
        </p:nvSpPr>
        <p:spPr>
          <a:xfrm>
            <a:off x="6629400" y="3611880"/>
            <a:ext cx="4892040" cy="2194560"/>
          </a:xfrm>
          <a:prstGeom prst="rect">
            <a:avLst/>
          </a:prstGeom>
          <a:noFill/>
          <a:ln/>
        </p:spPr>
        <p:txBody>
          <a:bodyPr wrap="square" rtlCol="0" anchor="ctr"/>
          <a:lstStyle/>
          <a:p>
            <a:pPr marL="342900" indent="-342900">
              <a:spcAft>
                <a:spcPts val="600"/>
              </a:spcAft>
              <a:buSzPct val="100000"/>
              <a:buChar char="•"/>
            </a:pPr>
            <a:r>
              <a:rPr lang="en-US" sz="1700" dirty="0">
                <a:solidFill>
                  <a:srgbClr val="FFFFFF"/>
                </a:solidFill>
                <a:latin typeface="Calibri" pitchFamily="34" charset="0"/>
                <a:ea typeface="Calibri" pitchFamily="34" charset="-122"/>
                <a:cs typeface="Calibri" pitchFamily="34" charset="-120"/>
              </a:rPr>
              <a:t>AI-assisted charting</a:t>
            </a:r>
            <a:endParaRPr lang="en-US" sz="1700" dirty="0"/>
          </a:p>
          <a:p>
            <a:pPr marL="342900" indent="-342900">
              <a:spcAft>
                <a:spcPts val="600"/>
              </a:spcAft>
              <a:buSzPct val="100000"/>
              <a:buChar char="•"/>
            </a:pPr>
            <a:r>
              <a:rPr lang="en-US" sz="1700" dirty="0">
                <a:solidFill>
                  <a:srgbClr val="FFFFFF"/>
                </a:solidFill>
                <a:latin typeface="Calibri" pitchFamily="34" charset="0"/>
                <a:ea typeface="Calibri" pitchFamily="34" charset="-122"/>
                <a:cs typeface="Calibri" pitchFamily="34" charset="-120"/>
              </a:rPr>
              <a:t>Automated patient reminders</a:t>
            </a:r>
            <a:endParaRPr lang="en-US" sz="1700" dirty="0"/>
          </a:p>
          <a:p>
            <a:pPr marL="342900" indent="-342900">
              <a:spcAft>
                <a:spcPts val="600"/>
              </a:spcAft>
              <a:buSzPct val="100000"/>
              <a:buChar char="•"/>
            </a:pPr>
            <a:r>
              <a:rPr lang="en-US" sz="1700" dirty="0">
                <a:solidFill>
                  <a:srgbClr val="FFFFFF"/>
                </a:solidFill>
                <a:latin typeface="Calibri" pitchFamily="34" charset="0"/>
                <a:ea typeface="Calibri" pitchFamily="34" charset="-122"/>
                <a:cs typeface="Calibri" pitchFamily="34" charset="-120"/>
              </a:rPr>
              <a:t>AI-drafted communications</a:t>
            </a:r>
            <a:endParaRPr lang="en-US" sz="1700" dirty="0"/>
          </a:p>
          <a:p>
            <a:pPr marL="342900" indent="-342900">
              <a:spcAft>
                <a:spcPts val="600"/>
              </a:spcAft>
              <a:buSzPct val="100000"/>
              <a:buChar char="•"/>
            </a:pPr>
            <a:r>
              <a:rPr lang="en-US" sz="1700" dirty="0">
                <a:solidFill>
                  <a:srgbClr val="FFFFFF"/>
                </a:solidFill>
                <a:latin typeface="Calibri" pitchFamily="34" charset="0"/>
                <a:ea typeface="Calibri" pitchFamily="34" charset="-122"/>
                <a:cs typeface="Calibri" pitchFamily="34" charset="-120"/>
              </a:rPr>
              <a:t>Clinical decision support tools</a:t>
            </a:r>
            <a:endParaRPr lang="en-US" sz="1700" dirty="0"/>
          </a:p>
        </p:txBody>
      </p:sp>
      <p:sp>
        <p:nvSpPr>
          <p:cNvPr id="12" name="Text 10"/>
          <p:cNvSpPr/>
          <p:nvPr/>
        </p:nvSpPr>
        <p:spPr>
          <a:xfrm>
            <a:off x="640080" y="6172200"/>
            <a:ext cx="10972800" cy="365760"/>
          </a:xfrm>
          <a:prstGeom prst="rect">
            <a:avLst/>
          </a:prstGeom>
          <a:noFill/>
          <a:ln/>
        </p:spPr>
        <p:txBody>
          <a:bodyPr wrap="square" lIns="0" tIns="0" rIns="0" bIns="0" rtlCol="0" anchor="ctr"/>
          <a:lstStyle/>
          <a:p>
            <a:pPr marL="0" indent="0" algn="ctr">
              <a:buNone/>
            </a:pPr>
            <a:r>
              <a:rPr lang="en-US" sz="1400" i="1" dirty="0">
                <a:solidFill>
                  <a:srgbClr val="4A5568"/>
                </a:solidFill>
                <a:latin typeface="Calibri" pitchFamily="34" charset="0"/>
                <a:ea typeface="Calibri" pitchFamily="34" charset="-122"/>
                <a:cs typeface="Calibri" pitchFamily="34" charset="-120"/>
              </a:rPr>
              <a:t>Same human in the room with the patient. Different toolkit.</a:t>
            </a:r>
            <a:endParaRPr lang="en-US" sz="1400" dirty="0"/>
          </a:p>
        </p:txBody>
      </p:sp>
      <p:sp>
        <p:nvSpPr>
          <p:cNvPr id="13" name="Text 11"/>
          <p:cNvSpPr/>
          <p:nvPr/>
        </p:nvSpPr>
        <p:spPr>
          <a:xfrm>
            <a:off x="457200" y="6492240"/>
            <a:ext cx="7315200" cy="274320"/>
          </a:xfrm>
          <a:prstGeom prst="rect">
            <a:avLst/>
          </a:prstGeom>
          <a:noFill/>
          <a:ln/>
        </p:spPr>
        <p:txBody>
          <a:bodyPr wrap="square" lIns="0" tIns="0" rIns="0" bIns="0" rtlCol="0" anchor="ctr"/>
          <a:lstStyle/>
          <a:p>
            <a:pPr marL="0" indent="0" algn="l">
              <a:buNone/>
            </a:pPr>
            <a:r>
              <a:rPr lang="en-US" sz="900" dirty="0">
                <a:solidFill>
                  <a:srgbClr val="4A5568"/>
                </a:solidFill>
                <a:latin typeface="Calibri" pitchFamily="34" charset="0"/>
                <a:ea typeface="Calibri" pitchFamily="34" charset="-122"/>
                <a:cs typeface="Calibri" pitchFamily="34" charset="-120"/>
              </a:rPr>
              <a:t>LARC K–16 Counselor Summit  ·  Vincent Calip, LBCC</a:t>
            </a:r>
            <a:endParaRPr lang="en-US" sz="900" dirty="0"/>
          </a:p>
        </p:txBody>
      </p:sp>
      <p:sp>
        <p:nvSpPr>
          <p:cNvPr id="14" name="Text 12"/>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4 / 16</a:t>
            </a:r>
            <a:endParaRPr lang="en-US" sz="9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40080"/>
            <a:ext cx="10972800" cy="365760"/>
          </a:xfrm>
          <a:prstGeom prst="rect">
            <a:avLst/>
          </a:prstGeom>
          <a:noFill/>
          <a:ln/>
        </p:spPr>
        <p:txBody>
          <a:bodyPr wrap="square" lIns="0" tIns="0" rIns="0" bIns="0" rtlCol="0" anchor="ctr"/>
          <a:lstStyle/>
          <a:p>
            <a:pPr marL="0" indent="0">
              <a:buNone/>
            </a:pPr>
            <a:r>
              <a:rPr lang="en-US" sz="1100" b="1" kern="0" spc="400" dirty="0">
                <a:solidFill>
                  <a:srgbClr val="FFB81C"/>
                </a:solidFill>
                <a:latin typeface="Calibri" pitchFamily="34" charset="0"/>
                <a:ea typeface="Calibri" pitchFamily="34" charset="-122"/>
                <a:cs typeface="Calibri" pitchFamily="34" charset="-120"/>
              </a:rPr>
              <a:t>AND IN YOUR WORK</a:t>
            </a:r>
            <a:endParaRPr lang="en-US" sz="1100" dirty="0"/>
          </a:p>
        </p:txBody>
      </p:sp>
      <p:sp>
        <p:nvSpPr>
          <p:cNvPr id="3" name="Text 1"/>
          <p:cNvSpPr/>
          <p:nvPr/>
        </p:nvSpPr>
        <p:spPr>
          <a:xfrm>
            <a:off x="640080" y="1097280"/>
            <a:ext cx="10972800" cy="822960"/>
          </a:xfrm>
          <a:prstGeom prst="rect">
            <a:avLst/>
          </a:prstGeom>
          <a:noFill/>
          <a:ln/>
        </p:spPr>
        <p:txBody>
          <a:bodyPr wrap="square" lIns="0" tIns="0" rIns="0" bIns="0" rtlCol="0" anchor="ctr"/>
          <a:lstStyle/>
          <a:p>
            <a:pPr marL="0" indent="0">
              <a:buNone/>
            </a:pPr>
            <a:r>
              <a:rPr lang="en-US" sz="4200" b="1" dirty="0">
                <a:solidFill>
                  <a:srgbClr val="1A1A1A"/>
                </a:solidFill>
                <a:latin typeface="Georgia" pitchFamily="34" charset="0"/>
                <a:ea typeface="Georgia" pitchFamily="34" charset="-122"/>
                <a:cs typeface="Georgia" pitchFamily="34" charset="-120"/>
              </a:rPr>
              <a:t>Now look at your own work.</a:t>
            </a:r>
            <a:endParaRPr lang="en-US" sz="4200" dirty="0"/>
          </a:p>
        </p:txBody>
      </p:sp>
      <p:sp>
        <p:nvSpPr>
          <p:cNvPr id="4" name="Text 2"/>
          <p:cNvSpPr/>
          <p:nvPr/>
        </p:nvSpPr>
        <p:spPr>
          <a:xfrm>
            <a:off x="640080" y="1965960"/>
            <a:ext cx="10972800" cy="457200"/>
          </a:xfrm>
          <a:prstGeom prst="rect">
            <a:avLst/>
          </a:prstGeom>
          <a:noFill/>
          <a:ln/>
        </p:spPr>
        <p:txBody>
          <a:bodyPr wrap="square" lIns="0" tIns="0" rIns="0" bIns="0" rtlCol="0" anchor="ctr"/>
          <a:lstStyle/>
          <a:p>
            <a:pPr marL="0" indent="0">
              <a:buNone/>
            </a:pPr>
            <a:r>
              <a:rPr lang="en-US" sz="1600" i="1" dirty="0">
                <a:solidFill>
                  <a:srgbClr val="4A5568"/>
                </a:solidFill>
                <a:latin typeface="Calibri" pitchFamily="34" charset="0"/>
                <a:ea typeface="Calibri" pitchFamily="34" charset="-122"/>
                <a:cs typeface="Calibri" pitchFamily="34" charset="-120"/>
              </a:rPr>
              <a:t>A counselor — a few years ago, and today.</a:t>
            </a:r>
            <a:endParaRPr lang="en-US" sz="1600" dirty="0"/>
          </a:p>
        </p:txBody>
      </p:sp>
      <p:sp>
        <p:nvSpPr>
          <p:cNvPr id="5" name="Shape 3"/>
          <p:cNvSpPr/>
          <p:nvPr/>
        </p:nvSpPr>
        <p:spPr>
          <a:xfrm>
            <a:off x="640080" y="2834640"/>
            <a:ext cx="5440680" cy="3200400"/>
          </a:xfrm>
          <a:prstGeom prst="rect">
            <a:avLst/>
          </a:prstGeom>
          <a:solidFill>
            <a:srgbClr val="FAF7F0"/>
          </a:solidFill>
          <a:ln/>
        </p:spPr>
        <p:txBody>
          <a:bodyPr/>
          <a:lstStyle/>
          <a:p>
            <a:endParaRPr lang="en-US"/>
          </a:p>
        </p:txBody>
      </p:sp>
      <p:sp>
        <p:nvSpPr>
          <p:cNvPr id="6" name="Text 4"/>
          <p:cNvSpPr/>
          <p:nvPr/>
        </p:nvSpPr>
        <p:spPr>
          <a:xfrm>
            <a:off x="1005840" y="3108960"/>
            <a:ext cx="4892040" cy="365760"/>
          </a:xfrm>
          <a:prstGeom prst="rect">
            <a:avLst/>
          </a:prstGeom>
          <a:noFill/>
          <a:ln/>
        </p:spPr>
        <p:txBody>
          <a:bodyPr wrap="square" lIns="0" tIns="0" rIns="0" bIns="0" rtlCol="0" anchor="ctr"/>
          <a:lstStyle/>
          <a:p>
            <a:pPr marL="0" indent="0">
              <a:buNone/>
            </a:pPr>
            <a:r>
              <a:rPr lang="en-US" sz="1100" b="1" kern="0" spc="400" dirty="0">
                <a:solidFill>
                  <a:srgbClr val="4A5568"/>
                </a:solidFill>
                <a:latin typeface="Calibri" pitchFamily="34" charset="0"/>
                <a:ea typeface="Calibri" pitchFamily="34" charset="-122"/>
                <a:cs typeface="Calibri" pitchFamily="34" charset="-120"/>
              </a:rPr>
              <a:t>THEN</a:t>
            </a:r>
            <a:endParaRPr lang="en-US" sz="1100" dirty="0"/>
          </a:p>
        </p:txBody>
      </p:sp>
      <p:sp>
        <p:nvSpPr>
          <p:cNvPr id="7" name="Text 5"/>
          <p:cNvSpPr/>
          <p:nvPr/>
        </p:nvSpPr>
        <p:spPr>
          <a:xfrm>
            <a:off x="1005840" y="3611880"/>
            <a:ext cx="4892040" cy="2194560"/>
          </a:xfrm>
          <a:prstGeom prst="rect">
            <a:avLst/>
          </a:prstGeom>
          <a:noFill/>
          <a:ln/>
        </p:spPr>
        <p:txBody>
          <a:bodyPr wrap="square" rtlCol="0" anchor="ctr"/>
          <a:lstStyle/>
          <a:p>
            <a:pPr marL="342900" indent="-342900">
              <a:spcAft>
                <a:spcPts val="600"/>
              </a:spcAft>
              <a:buSzPct val="100000"/>
              <a:buChar char="•"/>
            </a:pPr>
            <a:r>
              <a:rPr lang="en-US" sz="1600" dirty="0">
                <a:solidFill>
                  <a:srgbClr val="1A1A1A"/>
                </a:solidFill>
                <a:latin typeface="Calibri" pitchFamily="34" charset="0"/>
                <a:ea typeface="Calibri" pitchFamily="34" charset="-122"/>
                <a:cs typeface="Calibri" pitchFamily="34" charset="-120"/>
              </a:rPr>
              <a:t>Hand-typed letters of recommendation</a:t>
            </a:r>
            <a:endParaRPr lang="en-US" sz="1600" dirty="0"/>
          </a:p>
          <a:p>
            <a:pPr marL="342900" indent="-342900">
              <a:spcAft>
                <a:spcPts val="600"/>
              </a:spcAft>
              <a:buSzPct val="100000"/>
              <a:buChar char="•"/>
            </a:pPr>
            <a:r>
              <a:rPr lang="en-US" sz="1600" dirty="0">
                <a:solidFill>
                  <a:srgbClr val="1A1A1A"/>
                </a:solidFill>
                <a:latin typeface="Calibri" pitchFamily="34" charset="0"/>
                <a:ea typeface="Calibri" pitchFamily="34" charset="-122"/>
                <a:cs typeface="Calibri" pitchFamily="34" charset="-120"/>
              </a:rPr>
              <a:t>Paper transcripts and student files</a:t>
            </a:r>
            <a:endParaRPr lang="en-US" sz="1600" dirty="0"/>
          </a:p>
          <a:p>
            <a:pPr marL="342900" indent="-342900">
              <a:spcAft>
                <a:spcPts val="600"/>
              </a:spcAft>
              <a:buSzPct val="100000"/>
              <a:buChar char="•"/>
            </a:pPr>
            <a:r>
              <a:rPr lang="en-US" sz="1600" dirty="0">
                <a:solidFill>
                  <a:srgbClr val="1A1A1A"/>
                </a:solidFill>
                <a:latin typeface="Calibri" pitchFamily="34" charset="0"/>
                <a:ea typeface="Calibri" pitchFamily="34" charset="-122"/>
                <a:cs typeface="Calibri" pitchFamily="34" charset="-120"/>
              </a:rPr>
              <a:t>English-only family communication</a:t>
            </a:r>
            <a:endParaRPr lang="en-US" sz="1600" dirty="0"/>
          </a:p>
          <a:p>
            <a:pPr marL="342900" indent="-342900">
              <a:spcAft>
                <a:spcPts val="600"/>
              </a:spcAft>
              <a:buSzPct val="100000"/>
              <a:buChar char="•"/>
            </a:pPr>
            <a:r>
              <a:rPr lang="en-US" sz="1600" dirty="0">
                <a:solidFill>
                  <a:srgbClr val="1A1A1A"/>
                </a:solidFill>
                <a:latin typeface="Calibri" pitchFamily="34" charset="0"/>
                <a:ea typeface="Calibri" pitchFamily="34" charset="-122"/>
                <a:cs typeface="Calibri" pitchFamily="34" charset="-120"/>
              </a:rPr>
              <a:t>Manual at-risk student tracking</a:t>
            </a:r>
            <a:endParaRPr lang="en-US" sz="1600" dirty="0"/>
          </a:p>
        </p:txBody>
      </p:sp>
      <p:sp>
        <p:nvSpPr>
          <p:cNvPr id="8" name="Shape 6"/>
          <p:cNvSpPr/>
          <p:nvPr/>
        </p:nvSpPr>
        <p:spPr>
          <a:xfrm>
            <a:off x="6263640" y="2834640"/>
            <a:ext cx="5440680" cy="3200400"/>
          </a:xfrm>
          <a:prstGeom prst="rect">
            <a:avLst/>
          </a:prstGeom>
          <a:solidFill>
            <a:srgbClr val="003366"/>
          </a:solidFill>
          <a:ln/>
        </p:spPr>
        <p:txBody>
          <a:bodyPr/>
          <a:lstStyle/>
          <a:p>
            <a:endParaRPr lang="en-US"/>
          </a:p>
        </p:txBody>
      </p:sp>
      <p:sp>
        <p:nvSpPr>
          <p:cNvPr id="9" name="Shape 7"/>
          <p:cNvSpPr/>
          <p:nvPr/>
        </p:nvSpPr>
        <p:spPr>
          <a:xfrm>
            <a:off x="6263640" y="2834640"/>
            <a:ext cx="73152" cy="3200400"/>
          </a:xfrm>
          <a:prstGeom prst="rect">
            <a:avLst/>
          </a:prstGeom>
          <a:solidFill>
            <a:srgbClr val="FFB81C"/>
          </a:solidFill>
          <a:ln/>
        </p:spPr>
        <p:txBody>
          <a:bodyPr/>
          <a:lstStyle/>
          <a:p>
            <a:endParaRPr lang="en-US"/>
          </a:p>
        </p:txBody>
      </p:sp>
      <p:sp>
        <p:nvSpPr>
          <p:cNvPr id="10" name="Text 8"/>
          <p:cNvSpPr/>
          <p:nvPr/>
        </p:nvSpPr>
        <p:spPr>
          <a:xfrm>
            <a:off x="6629400" y="3108960"/>
            <a:ext cx="4892040" cy="365760"/>
          </a:xfrm>
          <a:prstGeom prst="rect">
            <a:avLst/>
          </a:prstGeom>
          <a:noFill/>
          <a:ln/>
        </p:spPr>
        <p:txBody>
          <a:bodyPr wrap="square" lIns="0" tIns="0" rIns="0" bIns="0" rtlCol="0" anchor="ctr"/>
          <a:lstStyle/>
          <a:p>
            <a:pPr marL="0" indent="0">
              <a:buNone/>
            </a:pPr>
            <a:r>
              <a:rPr lang="en-US" sz="1100" b="1" kern="0" spc="400" dirty="0">
                <a:solidFill>
                  <a:srgbClr val="FFB81C"/>
                </a:solidFill>
                <a:latin typeface="Calibri" pitchFamily="34" charset="0"/>
                <a:ea typeface="Calibri" pitchFamily="34" charset="-122"/>
                <a:cs typeface="Calibri" pitchFamily="34" charset="-120"/>
              </a:rPr>
              <a:t>NOW</a:t>
            </a:r>
            <a:endParaRPr lang="en-US" sz="1100" dirty="0"/>
          </a:p>
        </p:txBody>
      </p:sp>
      <p:sp>
        <p:nvSpPr>
          <p:cNvPr id="11" name="Text 9"/>
          <p:cNvSpPr/>
          <p:nvPr/>
        </p:nvSpPr>
        <p:spPr>
          <a:xfrm>
            <a:off x="6629400" y="3611880"/>
            <a:ext cx="4892040" cy="2194560"/>
          </a:xfrm>
          <a:prstGeom prst="rect">
            <a:avLst/>
          </a:prstGeom>
          <a:noFill/>
          <a:ln/>
        </p:spPr>
        <p:txBody>
          <a:bodyPr wrap="square" rtlCol="0" anchor="ctr"/>
          <a:lstStyle/>
          <a:p>
            <a:pPr marL="342900" indent="-3429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AI-drafted letter starters (you review and revise)</a:t>
            </a:r>
            <a:endParaRPr lang="en-US" sz="1600" dirty="0"/>
          </a:p>
          <a:p>
            <a:pPr marL="342900" indent="-3429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Searchable digital records, AI summaries</a:t>
            </a:r>
            <a:endParaRPr lang="en-US" sz="1600" dirty="0"/>
          </a:p>
          <a:p>
            <a:pPr marL="342900" indent="-3429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Real-time translated messages and calls</a:t>
            </a:r>
            <a:endParaRPr lang="en-US" sz="1600" dirty="0"/>
          </a:p>
          <a:p>
            <a:pPr marL="342900" indent="-3429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AI-flagged caseload alerts</a:t>
            </a:r>
            <a:endParaRPr lang="en-US" sz="1600" dirty="0"/>
          </a:p>
        </p:txBody>
      </p:sp>
      <p:sp>
        <p:nvSpPr>
          <p:cNvPr id="12" name="Text 10"/>
          <p:cNvSpPr/>
          <p:nvPr/>
        </p:nvSpPr>
        <p:spPr>
          <a:xfrm>
            <a:off x="640080" y="6172200"/>
            <a:ext cx="10972800" cy="365760"/>
          </a:xfrm>
          <a:prstGeom prst="rect">
            <a:avLst/>
          </a:prstGeom>
          <a:noFill/>
          <a:ln/>
        </p:spPr>
        <p:txBody>
          <a:bodyPr wrap="square" lIns="0" tIns="0" rIns="0" bIns="0" rtlCol="0" anchor="ctr"/>
          <a:lstStyle/>
          <a:p>
            <a:pPr marL="0" indent="0" algn="ctr">
              <a:buNone/>
            </a:pPr>
            <a:r>
              <a:rPr lang="en-US" sz="1400" i="1" dirty="0">
                <a:solidFill>
                  <a:srgbClr val="4A5568"/>
                </a:solidFill>
                <a:latin typeface="Calibri" pitchFamily="34" charset="0"/>
                <a:ea typeface="Calibri" pitchFamily="34" charset="-122"/>
                <a:cs typeface="Calibri" pitchFamily="34" charset="-120"/>
              </a:rPr>
              <a:t>Same counselor in the room with the student. Different toolkit.</a:t>
            </a:r>
            <a:endParaRPr lang="en-US" sz="1400" dirty="0"/>
          </a:p>
        </p:txBody>
      </p:sp>
      <p:sp>
        <p:nvSpPr>
          <p:cNvPr id="13" name="Text 11"/>
          <p:cNvSpPr/>
          <p:nvPr/>
        </p:nvSpPr>
        <p:spPr>
          <a:xfrm>
            <a:off x="457200" y="6492240"/>
            <a:ext cx="7315200" cy="274320"/>
          </a:xfrm>
          <a:prstGeom prst="rect">
            <a:avLst/>
          </a:prstGeom>
          <a:noFill/>
          <a:ln/>
        </p:spPr>
        <p:txBody>
          <a:bodyPr wrap="square" lIns="0" tIns="0" rIns="0" bIns="0" rtlCol="0" anchor="ctr"/>
          <a:lstStyle/>
          <a:p>
            <a:pPr marL="0" indent="0" algn="l">
              <a:buNone/>
            </a:pPr>
            <a:r>
              <a:rPr lang="en-US" sz="900" dirty="0">
                <a:solidFill>
                  <a:srgbClr val="4A5568"/>
                </a:solidFill>
                <a:latin typeface="Calibri" pitchFamily="34" charset="0"/>
                <a:ea typeface="Calibri" pitchFamily="34" charset="-122"/>
                <a:cs typeface="Calibri" pitchFamily="34" charset="-120"/>
              </a:rPr>
              <a:t>LARC K–16 Counselor Summit  ·  Vincent Calip, LBCC</a:t>
            </a:r>
            <a:endParaRPr lang="en-US" sz="900" dirty="0"/>
          </a:p>
        </p:txBody>
      </p:sp>
      <p:sp>
        <p:nvSpPr>
          <p:cNvPr id="14" name="Text 12"/>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5 / 16</a:t>
            </a:r>
            <a:endParaRPr lang="en-US" sz="9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3366"/>
        </a:solidFill>
        <a:effectLst/>
      </p:bgPr>
    </p:bg>
    <p:spTree>
      <p:nvGrpSpPr>
        <p:cNvPr id="1" name=""/>
        <p:cNvGrpSpPr/>
        <p:nvPr/>
      </p:nvGrpSpPr>
      <p:grpSpPr>
        <a:xfrm>
          <a:off x="0" y="0"/>
          <a:ext cx="0" cy="0"/>
          <a:chOff x="0" y="0"/>
          <a:chExt cx="0" cy="0"/>
        </a:xfrm>
      </p:grpSpPr>
      <p:sp>
        <p:nvSpPr>
          <p:cNvPr id="2" name="Text 0"/>
          <p:cNvSpPr/>
          <p:nvPr/>
        </p:nvSpPr>
        <p:spPr>
          <a:xfrm>
            <a:off x="640080" y="640080"/>
            <a:ext cx="10972800" cy="365760"/>
          </a:xfrm>
          <a:prstGeom prst="rect">
            <a:avLst/>
          </a:prstGeom>
          <a:noFill/>
          <a:ln/>
        </p:spPr>
        <p:txBody>
          <a:bodyPr wrap="square" lIns="0" tIns="0" rIns="0" bIns="0" rtlCol="0" anchor="ctr"/>
          <a:lstStyle/>
          <a:p>
            <a:pPr marL="0" indent="0">
              <a:buNone/>
            </a:pPr>
            <a:r>
              <a:rPr lang="en-US" sz="1100" b="1" kern="0" spc="400" dirty="0">
                <a:solidFill>
                  <a:srgbClr val="FFB81C"/>
                </a:solidFill>
                <a:latin typeface="Calibri" pitchFamily="34" charset="0"/>
                <a:ea typeface="Calibri" pitchFamily="34" charset="-122"/>
                <a:cs typeface="Calibri" pitchFamily="34" charset="-120"/>
              </a:rPr>
              <a:t>COUNSELOR TAKEAWAY</a:t>
            </a:r>
            <a:endParaRPr lang="en-US" sz="1100" dirty="0"/>
          </a:p>
        </p:txBody>
      </p:sp>
      <p:sp>
        <p:nvSpPr>
          <p:cNvPr id="3" name="Text 1"/>
          <p:cNvSpPr/>
          <p:nvPr/>
        </p:nvSpPr>
        <p:spPr>
          <a:xfrm>
            <a:off x="640080" y="1371600"/>
            <a:ext cx="10972800" cy="365760"/>
          </a:xfrm>
          <a:prstGeom prst="rect">
            <a:avLst/>
          </a:prstGeom>
          <a:noFill/>
          <a:ln/>
        </p:spPr>
        <p:txBody>
          <a:bodyPr wrap="square" lIns="0" tIns="0" rIns="0" bIns="0" rtlCol="0" anchor="ctr"/>
          <a:lstStyle/>
          <a:p>
            <a:pPr marL="0" indent="0">
              <a:buNone/>
            </a:pPr>
            <a:r>
              <a:rPr lang="en-US" sz="1400" i="1" dirty="0">
                <a:solidFill>
                  <a:srgbClr val="FFB81C"/>
                </a:solidFill>
                <a:latin typeface="Calibri" pitchFamily="34" charset="0"/>
                <a:ea typeface="Calibri" pitchFamily="34" charset="-122"/>
                <a:cs typeface="Calibri" pitchFamily="34" charset="-120"/>
              </a:rPr>
              <a:t>Instead of:</a:t>
            </a:r>
            <a:endParaRPr lang="en-US" sz="1400" dirty="0"/>
          </a:p>
        </p:txBody>
      </p:sp>
      <p:sp>
        <p:nvSpPr>
          <p:cNvPr id="4" name="Text 2"/>
          <p:cNvSpPr/>
          <p:nvPr/>
        </p:nvSpPr>
        <p:spPr>
          <a:xfrm>
            <a:off x="640080" y="1783080"/>
            <a:ext cx="10972800" cy="731520"/>
          </a:xfrm>
          <a:prstGeom prst="rect">
            <a:avLst/>
          </a:prstGeom>
          <a:noFill/>
          <a:ln/>
        </p:spPr>
        <p:txBody>
          <a:bodyPr wrap="square" lIns="0" tIns="0" rIns="0" bIns="0" rtlCol="0" anchor="ctr"/>
          <a:lstStyle/>
          <a:p>
            <a:pPr marL="0" indent="0">
              <a:buNone/>
            </a:pPr>
            <a:r>
              <a:rPr lang="en-US" sz="3000" i="1" dirty="0">
                <a:solidFill>
                  <a:srgbClr val="AAB7C9"/>
                </a:solidFill>
                <a:latin typeface="Georgia" pitchFamily="34" charset="0"/>
                <a:ea typeface="Georgia" pitchFamily="34" charset="-122"/>
                <a:cs typeface="Georgia" pitchFamily="34" charset="-120"/>
              </a:rPr>
              <a:t>“Will my career be replaced by AI?”</a:t>
            </a:r>
            <a:endParaRPr lang="en-US" sz="3000" dirty="0"/>
          </a:p>
        </p:txBody>
      </p:sp>
      <p:sp>
        <p:nvSpPr>
          <p:cNvPr id="5" name="Shape 3"/>
          <p:cNvSpPr/>
          <p:nvPr/>
        </p:nvSpPr>
        <p:spPr>
          <a:xfrm>
            <a:off x="640080" y="3017520"/>
            <a:ext cx="1097280" cy="54864"/>
          </a:xfrm>
          <a:prstGeom prst="rect">
            <a:avLst/>
          </a:prstGeom>
          <a:solidFill>
            <a:srgbClr val="FFB81C"/>
          </a:solidFill>
          <a:ln/>
        </p:spPr>
        <p:txBody>
          <a:bodyPr/>
          <a:lstStyle/>
          <a:p>
            <a:endParaRPr lang="en-US"/>
          </a:p>
        </p:txBody>
      </p:sp>
      <p:sp>
        <p:nvSpPr>
          <p:cNvPr id="6" name="Text 4"/>
          <p:cNvSpPr/>
          <p:nvPr/>
        </p:nvSpPr>
        <p:spPr>
          <a:xfrm>
            <a:off x="640080" y="3246120"/>
            <a:ext cx="10972800" cy="365760"/>
          </a:xfrm>
          <a:prstGeom prst="rect">
            <a:avLst/>
          </a:prstGeom>
          <a:noFill/>
          <a:ln/>
        </p:spPr>
        <p:txBody>
          <a:bodyPr wrap="square" lIns="0" tIns="0" rIns="0" bIns="0" rtlCol="0" anchor="ctr"/>
          <a:lstStyle/>
          <a:p>
            <a:pPr marL="0" indent="0">
              <a:buNone/>
            </a:pPr>
            <a:r>
              <a:rPr lang="en-US" sz="1400" b="1" dirty="0">
                <a:solidFill>
                  <a:srgbClr val="FFB81C"/>
                </a:solidFill>
                <a:latin typeface="Calibri" pitchFamily="34" charset="0"/>
                <a:ea typeface="Calibri" pitchFamily="34" charset="-122"/>
                <a:cs typeface="Calibri" pitchFamily="34" charset="-120"/>
              </a:rPr>
              <a:t>Ask:</a:t>
            </a:r>
            <a:endParaRPr lang="en-US" sz="1400" dirty="0"/>
          </a:p>
        </p:txBody>
      </p:sp>
      <p:sp>
        <p:nvSpPr>
          <p:cNvPr id="7" name="Text 5"/>
          <p:cNvSpPr/>
          <p:nvPr/>
        </p:nvSpPr>
        <p:spPr>
          <a:xfrm>
            <a:off x="640080" y="3703320"/>
            <a:ext cx="10972800" cy="2011680"/>
          </a:xfrm>
          <a:prstGeom prst="rect">
            <a:avLst/>
          </a:prstGeom>
          <a:noFill/>
          <a:ln/>
        </p:spPr>
        <p:txBody>
          <a:bodyPr wrap="square" lIns="0" tIns="0" rIns="0" bIns="0" rtlCol="0" anchor="t"/>
          <a:lstStyle/>
          <a:p>
            <a:pPr marL="0" indent="0">
              <a:buNone/>
            </a:pPr>
            <a:r>
              <a:rPr lang="en-US" sz="3800" b="1" dirty="0">
                <a:solidFill>
                  <a:srgbClr val="FFFFFF"/>
                </a:solidFill>
                <a:latin typeface="Georgia" pitchFamily="34" charset="0"/>
                <a:ea typeface="Georgia" pitchFamily="34" charset="-122"/>
                <a:cs typeface="Georgia" pitchFamily="34" charset="-120"/>
              </a:rPr>
              <a:t>“Which tasks in this career are changing,</a:t>
            </a:r>
            <a:endParaRPr lang="en-US" sz="3800" dirty="0"/>
          </a:p>
          <a:p>
            <a:pPr marL="0" indent="0">
              <a:buNone/>
            </a:pPr>
            <a:r>
              <a:rPr lang="en-US" sz="3800" b="1" dirty="0">
                <a:solidFill>
                  <a:srgbClr val="FFFFFF"/>
                </a:solidFill>
                <a:latin typeface="Georgia" pitchFamily="34" charset="0"/>
                <a:ea typeface="Georgia" pitchFamily="34" charset="-122"/>
                <a:cs typeface="Georgia" pitchFamily="34" charset="-120"/>
              </a:rPr>
              <a:t>and which still need </a:t>
            </a:r>
            <a:r>
              <a:rPr lang="en-US" sz="3800" b="1" i="1" dirty="0">
                <a:solidFill>
                  <a:srgbClr val="FFB81C"/>
                </a:solidFill>
                <a:latin typeface="Georgia" pitchFamily="34" charset="0"/>
                <a:ea typeface="Georgia" pitchFamily="34" charset="-122"/>
                <a:cs typeface="Georgia" pitchFamily="34" charset="-120"/>
              </a:rPr>
              <a:t>human judgment</a:t>
            </a:r>
            <a:r>
              <a:rPr lang="en-US" sz="3800" b="1" dirty="0">
                <a:solidFill>
                  <a:srgbClr val="FFFFFF"/>
                </a:solidFill>
                <a:latin typeface="Georgia" pitchFamily="34" charset="0"/>
                <a:ea typeface="Georgia" pitchFamily="34" charset="-122"/>
                <a:cs typeface="Georgia" pitchFamily="34" charset="-120"/>
              </a:rPr>
              <a:t>?”</a:t>
            </a:r>
            <a:endParaRPr lang="en-US" sz="3800" dirty="0"/>
          </a:p>
        </p:txBody>
      </p:sp>
      <p:sp>
        <p:nvSpPr>
          <p:cNvPr id="8" name="Text 6"/>
          <p:cNvSpPr/>
          <p:nvPr/>
        </p:nvSpPr>
        <p:spPr>
          <a:xfrm>
            <a:off x="457200" y="6492240"/>
            <a:ext cx="7315200" cy="274320"/>
          </a:xfrm>
          <a:prstGeom prst="rect">
            <a:avLst/>
          </a:prstGeom>
          <a:noFill/>
          <a:ln/>
        </p:spPr>
        <p:txBody>
          <a:bodyPr wrap="square" lIns="0" tIns="0" rIns="0" bIns="0" rtlCol="0" anchor="ctr"/>
          <a:lstStyle/>
          <a:p>
            <a:pPr marL="0" indent="0" algn="l">
              <a:buNone/>
            </a:pPr>
            <a:r>
              <a:rPr lang="en-US" sz="900" dirty="0">
                <a:solidFill>
                  <a:srgbClr val="4A5568"/>
                </a:solidFill>
                <a:latin typeface="Calibri" pitchFamily="34" charset="0"/>
                <a:ea typeface="Calibri" pitchFamily="34" charset="-122"/>
                <a:cs typeface="Calibri" pitchFamily="34" charset="-120"/>
              </a:rPr>
              <a:t>LARC K–16 Counselor Summit  ·  Vincent Calip, LBCC</a:t>
            </a:r>
            <a:endParaRPr lang="en-US" sz="900" dirty="0"/>
          </a:p>
        </p:txBody>
      </p:sp>
      <p:sp>
        <p:nvSpPr>
          <p:cNvPr id="9" name="Text 7"/>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6 / 16</a:t>
            </a:r>
            <a:endParaRPr lang="en-US" sz="9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40080"/>
            <a:ext cx="10972800" cy="365760"/>
          </a:xfrm>
          <a:prstGeom prst="rect">
            <a:avLst/>
          </a:prstGeom>
          <a:noFill/>
          <a:ln/>
        </p:spPr>
        <p:txBody>
          <a:bodyPr wrap="square" lIns="0" tIns="0" rIns="0" bIns="0" rtlCol="0" anchor="ctr"/>
          <a:lstStyle/>
          <a:p>
            <a:pPr marL="0" indent="0">
              <a:buNone/>
            </a:pPr>
            <a:r>
              <a:rPr lang="en-US" sz="1100" b="1" kern="0" spc="400" dirty="0">
                <a:solidFill>
                  <a:srgbClr val="FFB81C"/>
                </a:solidFill>
                <a:latin typeface="Calibri" pitchFamily="34" charset="0"/>
                <a:ea typeface="Calibri" pitchFamily="34" charset="-122"/>
                <a:cs typeface="Calibri" pitchFamily="34" charset="-120"/>
              </a:rPr>
              <a:t>WHAT STUDENTS NEED</a:t>
            </a:r>
            <a:endParaRPr lang="en-US" sz="1100" dirty="0"/>
          </a:p>
        </p:txBody>
      </p:sp>
      <p:sp>
        <p:nvSpPr>
          <p:cNvPr id="3" name="Text 1"/>
          <p:cNvSpPr/>
          <p:nvPr/>
        </p:nvSpPr>
        <p:spPr>
          <a:xfrm>
            <a:off x="640080" y="1097280"/>
            <a:ext cx="10972800" cy="822960"/>
          </a:xfrm>
          <a:prstGeom prst="rect">
            <a:avLst/>
          </a:prstGeom>
          <a:noFill/>
          <a:ln/>
        </p:spPr>
        <p:txBody>
          <a:bodyPr wrap="square" lIns="0" tIns="0" rIns="0" bIns="0" rtlCol="0" anchor="ctr"/>
          <a:lstStyle/>
          <a:p>
            <a:pPr marL="0" indent="0">
              <a:buNone/>
            </a:pPr>
            <a:r>
              <a:rPr lang="en-US" sz="4200" b="1" dirty="0">
                <a:solidFill>
                  <a:srgbClr val="1A1A1A"/>
                </a:solidFill>
                <a:latin typeface="Georgia" pitchFamily="34" charset="0"/>
                <a:ea typeface="Georgia" pitchFamily="34" charset="-122"/>
                <a:cs typeface="Georgia" pitchFamily="34" charset="-120"/>
              </a:rPr>
              <a:t>The skill stack that wins.</a:t>
            </a:r>
            <a:endParaRPr lang="en-US" sz="4200" dirty="0"/>
          </a:p>
        </p:txBody>
      </p:sp>
      <p:sp>
        <p:nvSpPr>
          <p:cNvPr id="4" name="Shape 2"/>
          <p:cNvSpPr/>
          <p:nvPr/>
        </p:nvSpPr>
        <p:spPr>
          <a:xfrm>
            <a:off x="640080" y="2194560"/>
            <a:ext cx="777240" cy="868680"/>
          </a:xfrm>
          <a:prstGeom prst="rect">
            <a:avLst/>
          </a:prstGeom>
          <a:solidFill>
            <a:srgbClr val="003366"/>
          </a:solidFill>
          <a:ln/>
        </p:spPr>
        <p:txBody>
          <a:bodyPr/>
          <a:lstStyle/>
          <a:p>
            <a:endParaRPr lang="en-US"/>
          </a:p>
        </p:txBody>
      </p:sp>
      <p:sp>
        <p:nvSpPr>
          <p:cNvPr id="5" name="Text 3"/>
          <p:cNvSpPr/>
          <p:nvPr/>
        </p:nvSpPr>
        <p:spPr>
          <a:xfrm>
            <a:off x="640080" y="2194560"/>
            <a:ext cx="777240" cy="868680"/>
          </a:xfrm>
          <a:prstGeom prst="rect">
            <a:avLst/>
          </a:prstGeom>
          <a:noFill/>
          <a:ln/>
        </p:spPr>
        <p:txBody>
          <a:bodyPr wrap="square" lIns="0" tIns="0" rIns="0" bIns="0" rtlCol="0" anchor="ctr"/>
          <a:lstStyle/>
          <a:p>
            <a:pPr marL="0" indent="0" algn="ctr">
              <a:buNone/>
            </a:pPr>
            <a:r>
              <a:rPr lang="en-US" sz="2200" b="1" dirty="0">
                <a:solidFill>
                  <a:srgbClr val="FFB81C"/>
                </a:solidFill>
                <a:latin typeface="Georgia" pitchFamily="34" charset="0"/>
                <a:ea typeface="Georgia" pitchFamily="34" charset="-122"/>
                <a:cs typeface="Georgia" pitchFamily="34" charset="-120"/>
              </a:rPr>
              <a:t>01</a:t>
            </a:r>
            <a:endParaRPr lang="en-US" sz="2200" dirty="0"/>
          </a:p>
        </p:txBody>
      </p:sp>
      <p:sp>
        <p:nvSpPr>
          <p:cNvPr id="6" name="Shape 4"/>
          <p:cNvSpPr/>
          <p:nvPr/>
        </p:nvSpPr>
        <p:spPr>
          <a:xfrm>
            <a:off x="1417320" y="2194560"/>
            <a:ext cx="10104120" cy="868680"/>
          </a:xfrm>
          <a:prstGeom prst="rect">
            <a:avLst/>
          </a:prstGeom>
          <a:solidFill>
            <a:srgbClr val="FAF7F0"/>
          </a:solidFill>
          <a:ln/>
        </p:spPr>
        <p:txBody>
          <a:bodyPr/>
          <a:lstStyle/>
          <a:p>
            <a:endParaRPr lang="en-US"/>
          </a:p>
        </p:txBody>
      </p:sp>
      <p:sp>
        <p:nvSpPr>
          <p:cNvPr id="7" name="Text 5"/>
          <p:cNvSpPr/>
          <p:nvPr/>
        </p:nvSpPr>
        <p:spPr>
          <a:xfrm>
            <a:off x="1691640" y="2194560"/>
            <a:ext cx="3840480" cy="868680"/>
          </a:xfrm>
          <a:prstGeom prst="rect">
            <a:avLst/>
          </a:prstGeom>
          <a:noFill/>
          <a:ln/>
        </p:spPr>
        <p:txBody>
          <a:bodyPr wrap="square" lIns="0" tIns="0" rIns="0" bIns="0" rtlCol="0" anchor="ctr"/>
          <a:lstStyle/>
          <a:p>
            <a:pPr marL="0" indent="0">
              <a:buNone/>
            </a:pPr>
            <a:r>
              <a:rPr lang="en-US" sz="2000" b="1" dirty="0">
                <a:solidFill>
                  <a:srgbClr val="003366"/>
                </a:solidFill>
                <a:latin typeface="Georgia" pitchFamily="34" charset="0"/>
                <a:ea typeface="Georgia" pitchFamily="34" charset="-122"/>
                <a:cs typeface="Georgia" pitchFamily="34" charset="-120"/>
              </a:rPr>
              <a:t>AI literacy</a:t>
            </a:r>
            <a:endParaRPr lang="en-US" sz="2000" dirty="0"/>
          </a:p>
        </p:txBody>
      </p:sp>
      <p:sp>
        <p:nvSpPr>
          <p:cNvPr id="8" name="Text 6"/>
          <p:cNvSpPr/>
          <p:nvPr/>
        </p:nvSpPr>
        <p:spPr>
          <a:xfrm>
            <a:off x="5577840" y="2194560"/>
            <a:ext cx="5852160" cy="868680"/>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Prompt literacy. Output evaluation. Ethics in AI. Not coding.</a:t>
            </a:r>
            <a:endParaRPr lang="en-US" sz="1400" dirty="0"/>
          </a:p>
        </p:txBody>
      </p:sp>
      <p:sp>
        <p:nvSpPr>
          <p:cNvPr id="9" name="Shape 7"/>
          <p:cNvSpPr/>
          <p:nvPr/>
        </p:nvSpPr>
        <p:spPr>
          <a:xfrm>
            <a:off x="640080" y="3172968"/>
            <a:ext cx="777240" cy="868680"/>
          </a:xfrm>
          <a:prstGeom prst="rect">
            <a:avLst/>
          </a:prstGeom>
          <a:solidFill>
            <a:srgbClr val="003366"/>
          </a:solidFill>
          <a:ln/>
        </p:spPr>
        <p:txBody>
          <a:bodyPr/>
          <a:lstStyle/>
          <a:p>
            <a:endParaRPr lang="en-US"/>
          </a:p>
        </p:txBody>
      </p:sp>
      <p:sp>
        <p:nvSpPr>
          <p:cNvPr id="10" name="Text 8"/>
          <p:cNvSpPr/>
          <p:nvPr/>
        </p:nvSpPr>
        <p:spPr>
          <a:xfrm>
            <a:off x="640080" y="3172968"/>
            <a:ext cx="777240" cy="868680"/>
          </a:xfrm>
          <a:prstGeom prst="rect">
            <a:avLst/>
          </a:prstGeom>
          <a:noFill/>
          <a:ln/>
        </p:spPr>
        <p:txBody>
          <a:bodyPr wrap="square" lIns="0" tIns="0" rIns="0" bIns="0" rtlCol="0" anchor="ctr"/>
          <a:lstStyle/>
          <a:p>
            <a:pPr marL="0" indent="0" algn="ctr">
              <a:buNone/>
            </a:pPr>
            <a:r>
              <a:rPr lang="en-US" sz="2200" b="1" dirty="0">
                <a:solidFill>
                  <a:srgbClr val="FFB81C"/>
                </a:solidFill>
                <a:latin typeface="Georgia" pitchFamily="34" charset="0"/>
                <a:ea typeface="Georgia" pitchFamily="34" charset="-122"/>
                <a:cs typeface="Georgia" pitchFamily="34" charset="-120"/>
              </a:rPr>
              <a:t>02</a:t>
            </a:r>
            <a:endParaRPr lang="en-US" sz="2200" dirty="0"/>
          </a:p>
        </p:txBody>
      </p:sp>
      <p:sp>
        <p:nvSpPr>
          <p:cNvPr id="11" name="Shape 9"/>
          <p:cNvSpPr/>
          <p:nvPr/>
        </p:nvSpPr>
        <p:spPr>
          <a:xfrm>
            <a:off x="1417320" y="3172968"/>
            <a:ext cx="10104120" cy="868680"/>
          </a:xfrm>
          <a:prstGeom prst="rect">
            <a:avLst/>
          </a:prstGeom>
          <a:solidFill>
            <a:srgbClr val="FAF7F0"/>
          </a:solidFill>
          <a:ln/>
        </p:spPr>
        <p:txBody>
          <a:bodyPr/>
          <a:lstStyle/>
          <a:p>
            <a:endParaRPr lang="en-US"/>
          </a:p>
        </p:txBody>
      </p:sp>
      <p:sp>
        <p:nvSpPr>
          <p:cNvPr id="12" name="Text 10"/>
          <p:cNvSpPr/>
          <p:nvPr/>
        </p:nvSpPr>
        <p:spPr>
          <a:xfrm>
            <a:off x="1691640" y="3172968"/>
            <a:ext cx="3840480" cy="868680"/>
          </a:xfrm>
          <a:prstGeom prst="rect">
            <a:avLst/>
          </a:prstGeom>
          <a:noFill/>
          <a:ln/>
        </p:spPr>
        <p:txBody>
          <a:bodyPr wrap="square" lIns="0" tIns="0" rIns="0" bIns="0" rtlCol="0" anchor="ctr"/>
          <a:lstStyle/>
          <a:p>
            <a:pPr marL="0" indent="0">
              <a:buNone/>
            </a:pPr>
            <a:r>
              <a:rPr lang="en-US" sz="2000" b="1" dirty="0">
                <a:solidFill>
                  <a:srgbClr val="003366"/>
                </a:solidFill>
                <a:latin typeface="Georgia" pitchFamily="34" charset="0"/>
                <a:ea typeface="Georgia" pitchFamily="34" charset="-122"/>
                <a:cs typeface="Georgia" pitchFamily="34" charset="-120"/>
              </a:rPr>
              <a:t>Human skills</a:t>
            </a:r>
            <a:endParaRPr lang="en-US" sz="2000" dirty="0"/>
          </a:p>
        </p:txBody>
      </p:sp>
      <p:sp>
        <p:nvSpPr>
          <p:cNvPr id="13" name="Text 11"/>
          <p:cNvSpPr/>
          <p:nvPr/>
        </p:nvSpPr>
        <p:spPr>
          <a:xfrm>
            <a:off x="5577840" y="3172968"/>
            <a:ext cx="5852160" cy="868680"/>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Communication. Judgment. Collaboration. Ethics. Empathy.</a:t>
            </a:r>
            <a:endParaRPr lang="en-US" sz="1400" dirty="0"/>
          </a:p>
        </p:txBody>
      </p:sp>
      <p:sp>
        <p:nvSpPr>
          <p:cNvPr id="14" name="Shape 12"/>
          <p:cNvSpPr/>
          <p:nvPr/>
        </p:nvSpPr>
        <p:spPr>
          <a:xfrm>
            <a:off x="640080" y="4151376"/>
            <a:ext cx="777240" cy="868680"/>
          </a:xfrm>
          <a:prstGeom prst="rect">
            <a:avLst/>
          </a:prstGeom>
          <a:solidFill>
            <a:srgbClr val="003366"/>
          </a:solidFill>
          <a:ln/>
        </p:spPr>
        <p:txBody>
          <a:bodyPr/>
          <a:lstStyle/>
          <a:p>
            <a:endParaRPr lang="en-US"/>
          </a:p>
        </p:txBody>
      </p:sp>
      <p:sp>
        <p:nvSpPr>
          <p:cNvPr id="15" name="Text 13"/>
          <p:cNvSpPr/>
          <p:nvPr/>
        </p:nvSpPr>
        <p:spPr>
          <a:xfrm>
            <a:off x="640080" y="4151376"/>
            <a:ext cx="777240" cy="868680"/>
          </a:xfrm>
          <a:prstGeom prst="rect">
            <a:avLst/>
          </a:prstGeom>
          <a:noFill/>
          <a:ln/>
        </p:spPr>
        <p:txBody>
          <a:bodyPr wrap="square" lIns="0" tIns="0" rIns="0" bIns="0" rtlCol="0" anchor="ctr"/>
          <a:lstStyle/>
          <a:p>
            <a:pPr marL="0" indent="0" algn="ctr">
              <a:buNone/>
            </a:pPr>
            <a:r>
              <a:rPr lang="en-US" sz="2200" b="1" dirty="0">
                <a:solidFill>
                  <a:srgbClr val="FFB81C"/>
                </a:solidFill>
                <a:latin typeface="Georgia" pitchFamily="34" charset="0"/>
                <a:ea typeface="Georgia" pitchFamily="34" charset="-122"/>
                <a:cs typeface="Georgia" pitchFamily="34" charset="-120"/>
              </a:rPr>
              <a:t>03</a:t>
            </a:r>
            <a:endParaRPr lang="en-US" sz="2200" dirty="0"/>
          </a:p>
        </p:txBody>
      </p:sp>
      <p:sp>
        <p:nvSpPr>
          <p:cNvPr id="16" name="Shape 14"/>
          <p:cNvSpPr/>
          <p:nvPr/>
        </p:nvSpPr>
        <p:spPr>
          <a:xfrm>
            <a:off x="1417320" y="4151376"/>
            <a:ext cx="10104120" cy="868680"/>
          </a:xfrm>
          <a:prstGeom prst="rect">
            <a:avLst/>
          </a:prstGeom>
          <a:solidFill>
            <a:srgbClr val="FAF7F0"/>
          </a:solidFill>
          <a:ln/>
        </p:spPr>
        <p:txBody>
          <a:bodyPr/>
          <a:lstStyle/>
          <a:p>
            <a:endParaRPr lang="en-US"/>
          </a:p>
        </p:txBody>
      </p:sp>
      <p:sp>
        <p:nvSpPr>
          <p:cNvPr id="17" name="Text 15"/>
          <p:cNvSpPr/>
          <p:nvPr/>
        </p:nvSpPr>
        <p:spPr>
          <a:xfrm>
            <a:off x="1691640" y="4151376"/>
            <a:ext cx="3840480" cy="868680"/>
          </a:xfrm>
          <a:prstGeom prst="rect">
            <a:avLst/>
          </a:prstGeom>
          <a:noFill/>
          <a:ln/>
        </p:spPr>
        <p:txBody>
          <a:bodyPr wrap="square" lIns="0" tIns="0" rIns="0" bIns="0" rtlCol="0" anchor="ctr"/>
          <a:lstStyle/>
          <a:p>
            <a:pPr marL="0" indent="0">
              <a:buNone/>
            </a:pPr>
            <a:r>
              <a:rPr lang="en-US" sz="2000" b="1" dirty="0">
                <a:solidFill>
                  <a:srgbClr val="003366"/>
                </a:solidFill>
                <a:latin typeface="Georgia" pitchFamily="34" charset="0"/>
                <a:ea typeface="Georgia" pitchFamily="34" charset="-122"/>
                <a:cs typeface="Georgia" pitchFamily="34" charset="-120"/>
              </a:rPr>
              <a:t>Domain knowledge</a:t>
            </a:r>
            <a:endParaRPr lang="en-US" sz="2000" dirty="0"/>
          </a:p>
        </p:txBody>
      </p:sp>
      <p:sp>
        <p:nvSpPr>
          <p:cNvPr id="18" name="Text 16"/>
          <p:cNvSpPr/>
          <p:nvPr/>
        </p:nvSpPr>
        <p:spPr>
          <a:xfrm>
            <a:off x="5577840" y="4151376"/>
            <a:ext cx="5852160" cy="868680"/>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The actual field they want to enter — health, business, public service, the trades.</a:t>
            </a:r>
            <a:endParaRPr lang="en-US" sz="1400" dirty="0"/>
          </a:p>
        </p:txBody>
      </p:sp>
      <p:sp>
        <p:nvSpPr>
          <p:cNvPr id="19" name="Shape 17"/>
          <p:cNvSpPr/>
          <p:nvPr/>
        </p:nvSpPr>
        <p:spPr>
          <a:xfrm>
            <a:off x="640080" y="5129784"/>
            <a:ext cx="777240" cy="868680"/>
          </a:xfrm>
          <a:prstGeom prst="rect">
            <a:avLst/>
          </a:prstGeom>
          <a:solidFill>
            <a:srgbClr val="003366"/>
          </a:solidFill>
          <a:ln/>
        </p:spPr>
        <p:txBody>
          <a:bodyPr/>
          <a:lstStyle/>
          <a:p>
            <a:endParaRPr lang="en-US"/>
          </a:p>
        </p:txBody>
      </p:sp>
      <p:sp>
        <p:nvSpPr>
          <p:cNvPr id="20" name="Text 18"/>
          <p:cNvSpPr/>
          <p:nvPr/>
        </p:nvSpPr>
        <p:spPr>
          <a:xfrm>
            <a:off x="640080" y="5129784"/>
            <a:ext cx="777240" cy="868680"/>
          </a:xfrm>
          <a:prstGeom prst="rect">
            <a:avLst/>
          </a:prstGeom>
          <a:noFill/>
          <a:ln/>
        </p:spPr>
        <p:txBody>
          <a:bodyPr wrap="square" lIns="0" tIns="0" rIns="0" bIns="0" rtlCol="0" anchor="ctr"/>
          <a:lstStyle/>
          <a:p>
            <a:pPr marL="0" indent="0" algn="ctr">
              <a:buNone/>
            </a:pPr>
            <a:r>
              <a:rPr lang="en-US" sz="2200" b="1" dirty="0">
                <a:solidFill>
                  <a:srgbClr val="FFB81C"/>
                </a:solidFill>
                <a:latin typeface="Georgia" pitchFamily="34" charset="0"/>
                <a:ea typeface="Georgia" pitchFamily="34" charset="-122"/>
                <a:cs typeface="Georgia" pitchFamily="34" charset="-120"/>
              </a:rPr>
              <a:t>04</a:t>
            </a:r>
            <a:endParaRPr lang="en-US" sz="2200" dirty="0"/>
          </a:p>
        </p:txBody>
      </p:sp>
      <p:sp>
        <p:nvSpPr>
          <p:cNvPr id="21" name="Shape 19"/>
          <p:cNvSpPr/>
          <p:nvPr/>
        </p:nvSpPr>
        <p:spPr>
          <a:xfrm>
            <a:off x="1417320" y="5129784"/>
            <a:ext cx="10104120" cy="868680"/>
          </a:xfrm>
          <a:prstGeom prst="rect">
            <a:avLst/>
          </a:prstGeom>
          <a:solidFill>
            <a:srgbClr val="FAF7F0"/>
          </a:solidFill>
          <a:ln/>
        </p:spPr>
        <p:txBody>
          <a:bodyPr/>
          <a:lstStyle/>
          <a:p>
            <a:endParaRPr lang="en-US"/>
          </a:p>
        </p:txBody>
      </p:sp>
      <p:sp>
        <p:nvSpPr>
          <p:cNvPr id="22" name="Text 20"/>
          <p:cNvSpPr/>
          <p:nvPr/>
        </p:nvSpPr>
        <p:spPr>
          <a:xfrm>
            <a:off x="1691640" y="5129784"/>
            <a:ext cx="3840480" cy="868680"/>
          </a:xfrm>
          <a:prstGeom prst="rect">
            <a:avLst/>
          </a:prstGeom>
          <a:noFill/>
          <a:ln/>
        </p:spPr>
        <p:txBody>
          <a:bodyPr wrap="square" lIns="0" tIns="0" rIns="0" bIns="0" rtlCol="0" anchor="ctr"/>
          <a:lstStyle/>
          <a:p>
            <a:pPr marL="0" indent="0">
              <a:buNone/>
            </a:pPr>
            <a:r>
              <a:rPr lang="en-US" sz="2000" b="1" dirty="0">
                <a:solidFill>
                  <a:srgbClr val="003366"/>
                </a:solidFill>
                <a:latin typeface="Georgia" pitchFamily="34" charset="0"/>
                <a:ea typeface="Georgia" pitchFamily="34" charset="-122"/>
                <a:cs typeface="Georgia" pitchFamily="34" charset="-120"/>
              </a:rPr>
              <a:t>Evidence of capability</a:t>
            </a:r>
            <a:endParaRPr lang="en-US" sz="2000" dirty="0"/>
          </a:p>
        </p:txBody>
      </p:sp>
      <p:sp>
        <p:nvSpPr>
          <p:cNvPr id="23" name="Text 21"/>
          <p:cNvSpPr/>
          <p:nvPr/>
        </p:nvSpPr>
        <p:spPr>
          <a:xfrm>
            <a:off x="5577840" y="5129784"/>
            <a:ext cx="5852160" cy="868680"/>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Projects. Certificates. Internships. Dual-enrollment artifacts.</a:t>
            </a:r>
            <a:endParaRPr lang="en-US" sz="1400" dirty="0"/>
          </a:p>
        </p:txBody>
      </p:sp>
      <p:sp>
        <p:nvSpPr>
          <p:cNvPr id="24" name="Text 22"/>
          <p:cNvSpPr/>
          <p:nvPr/>
        </p:nvSpPr>
        <p:spPr>
          <a:xfrm>
            <a:off x="457200" y="6492240"/>
            <a:ext cx="7315200" cy="274320"/>
          </a:xfrm>
          <a:prstGeom prst="rect">
            <a:avLst/>
          </a:prstGeom>
          <a:noFill/>
          <a:ln/>
        </p:spPr>
        <p:txBody>
          <a:bodyPr wrap="square" lIns="0" tIns="0" rIns="0" bIns="0" rtlCol="0" anchor="ctr"/>
          <a:lstStyle/>
          <a:p>
            <a:pPr marL="0" indent="0" algn="l">
              <a:buNone/>
            </a:pPr>
            <a:r>
              <a:rPr lang="en-US" sz="900" dirty="0">
                <a:solidFill>
                  <a:srgbClr val="4A5568"/>
                </a:solidFill>
                <a:latin typeface="Calibri" pitchFamily="34" charset="0"/>
                <a:ea typeface="Calibri" pitchFamily="34" charset="-122"/>
                <a:cs typeface="Calibri" pitchFamily="34" charset="-120"/>
              </a:rPr>
              <a:t>LARC K–16 Counselor Summit  ·  Vincent Calip, LBCC</a:t>
            </a:r>
            <a:endParaRPr lang="en-US" sz="900" dirty="0"/>
          </a:p>
        </p:txBody>
      </p:sp>
      <p:sp>
        <p:nvSpPr>
          <p:cNvPr id="25" name="Text 23"/>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7 / 16</a:t>
            </a:r>
            <a:endParaRPr lang="en-US" sz="9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40080"/>
            <a:ext cx="10972800" cy="365760"/>
          </a:xfrm>
          <a:prstGeom prst="rect">
            <a:avLst/>
          </a:prstGeom>
          <a:noFill/>
          <a:ln/>
        </p:spPr>
        <p:txBody>
          <a:bodyPr wrap="square" lIns="0" tIns="0" rIns="0" bIns="0" rtlCol="0" anchor="ctr"/>
          <a:lstStyle/>
          <a:p>
            <a:pPr marL="0" indent="0">
              <a:buNone/>
            </a:pPr>
            <a:r>
              <a:rPr lang="en-US" sz="1100" b="1" kern="0" spc="400" dirty="0">
                <a:solidFill>
                  <a:srgbClr val="FFB81C"/>
                </a:solidFill>
                <a:latin typeface="Calibri" pitchFamily="34" charset="0"/>
                <a:ea typeface="Calibri" pitchFamily="34" charset="-122"/>
                <a:cs typeface="Calibri" pitchFamily="34" charset="-120"/>
              </a:rPr>
              <a:t>WHY THIS MATTERS</a:t>
            </a:r>
            <a:endParaRPr lang="en-US" sz="1100" dirty="0"/>
          </a:p>
        </p:txBody>
      </p:sp>
      <p:sp>
        <p:nvSpPr>
          <p:cNvPr id="3" name="Text 1"/>
          <p:cNvSpPr/>
          <p:nvPr/>
        </p:nvSpPr>
        <p:spPr>
          <a:xfrm>
            <a:off x="457200" y="1280160"/>
            <a:ext cx="5943600" cy="3474720"/>
          </a:xfrm>
          <a:prstGeom prst="rect">
            <a:avLst/>
          </a:prstGeom>
          <a:noFill/>
          <a:ln/>
        </p:spPr>
        <p:txBody>
          <a:bodyPr wrap="square" lIns="0" tIns="0" rIns="0" bIns="0" rtlCol="0" anchor="ctr"/>
          <a:lstStyle/>
          <a:p>
            <a:pPr marL="0" indent="0" algn="ctr">
              <a:buNone/>
            </a:pPr>
            <a:r>
              <a:rPr lang="en-US" sz="16000" b="1" dirty="0">
                <a:solidFill>
                  <a:srgbClr val="003366"/>
                </a:solidFill>
                <a:latin typeface="Georgia" pitchFamily="34" charset="0"/>
                <a:ea typeface="Georgia" pitchFamily="34" charset="-122"/>
                <a:cs typeface="Georgia" pitchFamily="34" charset="-120"/>
              </a:rPr>
              <a:t>56%</a:t>
            </a:r>
            <a:endParaRPr lang="en-US" sz="16000" dirty="0"/>
          </a:p>
        </p:txBody>
      </p:sp>
      <p:sp>
        <p:nvSpPr>
          <p:cNvPr id="4" name="Text 2"/>
          <p:cNvSpPr/>
          <p:nvPr/>
        </p:nvSpPr>
        <p:spPr>
          <a:xfrm>
            <a:off x="640080" y="4846320"/>
            <a:ext cx="5486400" cy="457200"/>
          </a:xfrm>
          <a:prstGeom prst="rect">
            <a:avLst/>
          </a:prstGeom>
          <a:noFill/>
          <a:ln/>
        </p:spPr>
        <p:txBody>
          <a:bodyPr wrap="square" lIns="0" tIns="0" rIns="0" bIns="0" rtlCol="0" anchor="ctr"/>
          <a:lstStyle/>
          <a:p>
            <a:pPr marL="0" indent="0" algn="ctr">
              <a:buNone/>
            </a:pPr>
            <a:r>
              <a:rPr lang="en-US" sz="2200" b="1" dirty="0">
                <a:solidFill>
                  <a:srgbClr val="1A1A1A"/>
                </a:solidFill>
                <a:latin typeface="Calibri" pitchFamily="34" charset="0"/>
                <a:ea typeface="Calibri" pitchFamily="34" charset="-122"/>
                <a:cs typeface="Calibri" pitchFamily="34" charset="-120"/>
              </a:rPr>
              <a:t>wage premium</a:t>
            </a:r>
            <a:endParaRPr lang="en-US" sz="2200" dirty="0"/>
          </a:p>
        </p:txBody>
      </p:sp>
      <p:sp>
        <p:nvSpPr>
          <p:cNvPr id="5" name="Text 3"/>
          <p:cNvSpPr/>
          <p:nvPr/>
        </p:nvSpPr>
        <p:spPr>
          <a:xfrm>
            <a:off x="640080" y="5257800"/>
            <a:ext cx="5486400" cy="365760"/>
          </a:xfrm>
          <a:prstGeom prst="rect">
            <a:avLst/>
          </a:prstGeom>
          <a:noFill/>
          <a:ln/>
        </p:spPr>
        <p:txBody>
          <a:bodyPr wrap="square" lIns="0" tIns="0" rIns="0" bIns="0" rtlCol="0" anchor="ctr"/>
          <a:lstStyle/>
          <a:p>
            <a:pPr marL="0" indent="0" algn="ctr">
              <a:buNone/>
            </a:pPr>
            <a:r>
              <a:rPr lang="en-US" sz="1600" dirty="0">
                <a:solidFill>
                  <a:srgbClr val="4A5568"/>
                </a:solidFill>
                <a:latin typeface="Calibri" pitchFamily="34" charset="0"/>
                <a:ea typeface="Calibri" pitchFamily="34" charset="-122"/>
                <a:cs typeface="Calibri" pitchFamily="34" charset="-120"/>
              </a:rPr>
              <a:t>for workers with AI skills.</a:t>
            </a:r>
            <a:endParaRPr lang="en-US" sz="1600" dirty="0"/>
          </a:p>
        </p:txBody>
      </p:sp>
      <p:sp>
        <p:nvSpPr>
          <p:cNvPr id="6" name="Text 4"/>
          <p:cNvSpPr/>
          <p:nvPr/>
        </p:nvSpPr>
        <p:spPr>
          <a:xfrm>
            <a:off x="640080" y="5669280"/>
            <a:ext cx="5486400" cy="320040"/>
          </a:xfrm>
          <a:prstGeom prst="rect">
            <a:avLst/>
          </a:prstGeom>
          <a:noFill/>
          <a:ln/>
        </p:spPr>
        <p:txBody>
          <a:bodyPr wrap="square" lIns="0" tIns="0" rIns="0" bIns="0" rtlCol="0" anchor="ctr"/>
          <a:lstStyle/>
          <a:p>
            <a:pPr marL="0" indent="0" algn="ctr">
              <a:buNone/>
            </a:pPr>
            <a:r>
              <a:rPr lang="en-US" sz="1000" i="1" dirty="0">
                <a:solidFill>
                  <a:srgbClr val="4A5568"/>
                </a:solidFill>
                <a:latin typeface="Calibri" pitchFamily="34" charset="0"/>
                <a:ea typeface="Calibri" pitchFamily="34" charset="-122"/>
                <a:cs typeface="Calibri" pitchFamily="34" charset="-120"/>
              </a:rPr>
              <a:t>PwC · Global AI Jobs Barometer, 2025</a:t>
            </a:r>
            <a:endParaRPr lang="en-US" sz="1000" dirty="0"/>
          </a:p>
        </p:txBody>
      </p:sp>
      <p:sp>
        <p:nvSpPr>
          <p:cNvPr id="7" name="Shape 5"/>
          <p:cNvSpPr/>
          <p:nvPr/>
        </p:nvSpPr>
        <p:spPr>
          <a:xfrm>
            <a:off x="6583680" y="1371600"/>
            <a:ext cx="54864" cy="4114800"/>
          </a:xfrm>
          <a:prstGeom prst="rect">
            <a:avLst/>
          </a:prstGeom>
          <a:solidFill>
            <a:srgbClr val="FFB81C"/>
          </a:solidFill>
          <a:ln/>
        </p:spPr>
        <p:txBody>
          <a:bodyPr/>
          <a:lstStyle/>
          <a:p>
            <a:endParaRPr lang="en-US"/>
          </a:p>
        </p:txBody>
      </p:sp>
      <p:sp>
        <p:nvSpPr>
          <p:cNvPr id="8" name="Text 6"/>
          <p:cNvSpPr/>
          <p:nvPr/>
        </p:nvSpPr>
        <p:spPr>
          <a:xfrm>
            <a:off x="6812280" y="1371600"/>
            <a:ext cx="5029200" cy="365760"/>
          </a:xfrm>
          <a:prstGeom prst="rect">
            <a:avLst/>
          </a:prstGeom>
          <a:noFill/>
          <a:ln/>
        </p:spPr>
        <p:txBody>
          <a:bodyPr wrap="square" lIns="0" tIns="0" rIns="0" bIns="0" rtlCol="0" anchor="ctr"/>
          <a:lstStyle/>
          <a:p>
            <a:pPr marL="0" indent="0">
              <a:buNone/>
            </a:pPr>
            <a:r>
              <a:rPr lang="en-US" sz="1300" i="1" dirty="0">
                <a:solidFill>
                  <a:srgbClr val="4A5568"/>
                </a:solidFill>
                <a:latin typeface="Calibri" pitchFamily="34" charset="0"/>
                <a:ea typeface="Calibri" pitchFamily="34" charset="-122"/>
                <a:cs typeface="Calibri" pitchFamily="34" charset="-120"/>
              </a:rPr>
              <a:t>And more signals from the labor market:</a:t>
            </a:r>
            <a:endParaRPr lang="en-US" sz="1300" dirty="0"/>
          </a:p>
        </p:txBody>
      </p:sp>
      <p:sp>
        <p:nvSpPr>
          <p:cNvPr id="9" name="Text 7"/>
          <p:cNvSpPr/>
          <p:nvPr/>
        </p:nvSpPr>
        <p:spPr>
          <a:xfrm>
            <a:off x="6812280" y="1828800"/>
            <a:ext cx="5029200" cy="3657600"/>
          </a:xfrm>
          <a:prstGeom prst="rect">
            <a:avLst/>
          </a:prstGeom>
          <a:noFill/>
          <a:ln/>
        </p:spPr>
        <p:txBody>
          <a:bodyPr wrap="square" rtlCol="0" anchor="ctr"/>
          <a:lstStyle/>
          <a:p>
            <a:pPr marL="342900" indent="-342900">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Degree requirements are loosening faster in AI-exposed jobs.</a:t>
            </a:r>
            <a:endParaRPr lang="en-US" sz="1400" dirty="0"/>
          </a:p>
          <a:p>
            <a:pPr marL="342900" indent="-342900">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86% of Gen Z say soft skills are required for advancement.</a:t>
            </a:r>
            <a:endParaRPr lang="en-US" sz="1400" dirty="0"/>
          </a:p>
          <a:p>
            <a:pPr marL="342900" indent="-342900">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72% of high-AI-exposure roles still demand management skills.</a:t>
            </a:r>
            <a:endParaRPr lang="en-US" sz="1400" dirty="0"/>
          </a:p>
          <a:p>
            <a:pPr marL="342900" indent="-342900">
              <a:spcAft>
                <a:spcPts val="800"/>
              </a:spcAft>
              <a:buSzPct val="100000"/>
              <a:buChar char="•"/>
            </a:pPr>
            <a:r>
              <a:rPr lang="en-US" sz="1400" b="1" dirty="0">
                <a:solidFill>
                  <a:srgbClr val="003366"/>
                </a:solidFill>
                <a:latin typeface="Calibri" pitchFamily="34" charset="0"/>
                <a:ea typeface="Calibri" pitchFamily="34" charset="-122"/>
                <a:cs typeface="Calibri" pitchFamily="34" charset="-120"/>
              </a:rPr>
              <a:t>Skills evidence is moving up. Credential gates are moving down.</a:t>
            </a:r>
            <a:endParaRPr lang="en-US" sz="1400" dirty="0"/>
          </a:p>
        </p:txBody>
      </p:sp>
      <p:sp>
        <p:nvSpPr>
          <p:cNvPr id="10" name="Text 8"/>
          <p:cNvSpPr/>
          <p:nvPr/>
        </p:nvSpPr>
        <p:spPr>
          <a:xfrm>
            <a:off x="457200" y="6492240"/>
            <a:ext cx="7315200" cy="274320"/>
          </a:xfrm>
          <a:prstGeom prst="rect">
            <a:avLst/>
          </a:prstGeom>
          <a:noFill/>
          <a:ln/>
        </p:spPr>
        <p:txBody>
          <a:bodyPr wrap="square" lIns="0" tIns="0" rIns="0" bIns="0" rtlCol="0" anchor="ctr"/>
          <a:lstStyle/>
          <a:p>
            <a:pPr marL="0" indent="0" algn="l">
              <a:buNone/>
            </a:pPr>
            <a:r>
              <a:rPr lang="en-US" sz="900" dirty="0">
                <a:solidFill>
                  <a:srgbClr val="4A5568"/>
                </a:solidFill>
                <a:latin typeface="Calibri" pitchFamily="34" charset="0"/>
                <a:ea typeface="Calibri" pitchFamily="34" charset="-122"/>
                <a:cs typeface="Calibri" pitchFamily="34" charset="-120"/>
              </a:rPr>
              <a:t>LARC K–16 Counselor Summit  ·  Vincent Calip, LBCC</a:t>
            </a:r>
            <a:endParaRPr lang="en-US" sz="900" dirty="0"/>
          </a:p>
        </p:txBody>
      </p:sp>
      <p:sp>
        <p:nvSpPr>
          <p:cNvPr id="11" name="Text 9"/>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8 / 16</a:t>
            </a:r>
            <a:endParaRPr lang="en-US" sz="9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3366"/>
        </a:solidFill>
        <a:effectLst/>
      </p:bgPr>
    </p:bg>
    <p:spTree>
      <p:nvGrpSpPr>
        <p:cNvPr id="1" name=""/>
        <p:cNvGrpSpPr/>
        <p:nvPr/>
      </p:nvGrpSpPr>
      <p:grpSpPr>
        <a:xfrm>
          <a:off x="0" y="0"/>
          <a:ext cx="0" cy="0"/>
          <a:chOff x="0" y="0"/>
          <a:chExt cx="0" cy="0"/>
        </a:xfrm>
      </p:grpSpPr>
      <p:sp>
        <p:nvSpPr>
          <p:cNvPr id="2" name="Text 0"/>
          <p:cNvSpPr/>
          <p:nvPr/>
        </p:nvSpPr>
        <p:spPr>
          <a:xfrm>
            <a:off x="640080" y="640080"/>
            <a:ext cx="10972800" cy="365760"/>
          </a:xfrm>
          <a:prstGeom prst="rect">
            <a:avLst/>
          </a:prstGeom>
          <a:noFill/>
          <a:ln/>
        </p:spPr>
        <p:txBody>
          <a:bodyPr wrap="square" lIns="0" tIns="0" rIns="0" bIns="0" rtlCol="0" anchor="ctr"/>
          <a:lstStyle/>
          <a:p>
            <a:pPr marL="0" indent="0">
              <a:buNone/>
            </a:pPr>
            <a:r>
              <a:rPr lang="en-US" sz="1100" b="1" kern="0" spc="400" dirty="0">
                <a:solidFill>
                  <a:srgbClr val="FFB81C"/>
                </a:solidFill>
                <a:latin typeface="Calibri" pitchFamily="34" charset="0"/>
                <a:ea typeface="Calibri" pitchFamily="34" charset="-122"/>
                <a:cs typeface="Calibri" pitchFamily="34" charset="-120"/>
              </a:rPr>
              <a:t>THE HEART OF THE SESSION</a:t>
            </a:r>
            <a:endParaRPr lang="en-US" sz="1100" dirty="0"/>
          </a:p>
        </p:txBody>
      </p:sp>
      <p:sp>
        <p:nvSpPr>
          <p:cNvPr id="3" name="Text 1"/>
          <p:cNvSpPr/>
          <p:nvPr/>
        </p:nvSpPr>
        <p:spPr>
          <a:xfrm>
            <a:off x="640080" y="1463040"/>
            <a:ext cx="10972800" cy="2011680"/>
          </a:xfrm>
          <a:prstGeom prst="rect">
            <a:avLst/>
          </a:prstGeom>
          <a:noFill/>
          <a:ln/>
        </p:spPr>
        <p:txBody>
          <a:bodyPr wrap="square" lIns="0" tIns="0" rIns="0" bIns="0" rtlCol="0" anchor="ctr"/>
          <a:lstStyle/>
          <a:p>
            <a:pPr marL="0" indent="0">
              <a:buNone/>
            </a:pPr>
            <a:r>
              <a:rPr lang="en-US" sz="6400" b="1" dirty="0">
                <a:solidFill>
                  <a:srgbClr val="FFFFFF"/>
                </a:solidFill>
                <a:latin typeface="Georgia" pitchFamily="34" charset="0"/>
                <a:ea typeface="Georgia" pitchFamily="34" charset="-122"/>
                <a:cs typeface="Georgia" pitchFamily="34" charset="-120"/>
              </a:rPr>
              <a:t>Three students.</a:t>
            </a:r>
            <a:endParaRPr lang="en-US" sz="6400" dirty="0"/>
          </a:p>
          <a:p>
            <a:pPr marL="0" indent="0">
              <a:buNone/>
            </a:pPr>
            <a:r>
              <a:rPr lang="en-US" sz="6400" b="1" i="1" dirty="0">
                <a:solidFill>
                  <a:srgbClr val="FFB81C"/>
                </a:solidFill>
                <a:latin typeface="Georgia" pitchFamily="34" charset="0"/>
                <a:ea typeface="Georgia" pitchFamily="34" charset="-122"/>
                <a:cs typeface="Georgia" pitchFamily="34" charset="-120"/>
              </a:rPr>
              <a:t>How do you advise?</a:t>
            </a:r>
            <a:endParaRPr lang="en-US" sz="6400" dirty="0"/>
          </a:p>
        </p:txBody>
      </p:sp>
      <p:sp>
        <p:nvSpPr>
          <p:cNvPr id="4" name="Shape 2"/>
          <p:cNvSpPr/>
          <p:nvPr/>
        </p:nvSpPr>
        <p:spPr>
          <a:xfrm>
            <a:off x="640080" y="4572000"/>
            <a:ext cx="3611880" cy="1371600"/>
          </a:xfrm>
          <a:prstGeom prst="rect">
            <a:avLst/>
          </a:prstGeom>
          <a:solidFill>
            <a:srgbClr val="FFFFFF">
              <a:alpha val="10000"/>
            </a:srgbClr>
          </a:solidFill>
          <a:ln w="12700">
            <a:solidFill>
              <a:srgbClr val="FFB81C"/>
            </a:solidFill>
            <a:prstDash val="solid"/>
          </a:ln>
        </p:spPr>
        <p:txBody>
          <a:bodyPr/>
          <a:lstStyle/>
          <a:p>
            <a:endParaRPr lang="en-US"/>
          </a:p>
        </p:txBody>
      </p:sp>
      <p:sp>
        <p:nvSpPr>
          <p:cNvPr id="5" name="Text 3"/>
          <p:cNvSpPr/>
          <p:nvPr/>
        </p:nvSpPr>
        <p:spPr>
          <a:xfrm>
            <a:off x="914400" y="4754880"/>
            <a:ext cx="731520" cy="1005840"/>
          </a:xfrm>
          <a:prstGeom prst="rect">
            <a:avLst/>
          </a:prstGeom>
          <a:noFill/>
          <a:ln/>
        </p:spPr>
        <p:txBody>
          <a:bodyPr wrap="square" lIns="0" tIns="0" rIns="0" bIns="0" rtlCol="0" anchor="ctr"/>
          <a:lstStyle/>
          <a:p>
            <a:pPr marL="0" indent="0">
              <a:buNone/>
            </a:pPr>
            <a:r>
              <a:rPr lang="en-US" sz="5600" b="1" dirty="0">
                <a:solidFill>
                  <a:srgbClr val="FFB81C"/>
                </a:solidFill>
                <a:latin typeface="Georgia" pitchFamily="34" charset="0"/>
                <a:ea typeface="Georgia" pitchFamily="34" charset="-122"/>
                <a:cs typeface="Georgia" pitchFamily="34" charset="-120"/>
              </a:rPr>
              <a:t>1</a:t>
            </a:r>
            <a:endParaRPr lang="en-US" sz="5600" dirty="0"/>
          </a:p>
        </p:txBody>
      </p:sp>
      <p:sp>
        <p:nvSpPr>
          <p:cNvPr id="6" name="Text 4"/>
          <p:cNvSpPr/>
          <p:nvPr/>
        </p:nvSpPr>
        <p:spPr>
          <a:xfrm>
            <a:off x="1737360" y="4846320"/>
            <a:ext cx="2331720" cy="45720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Read</a:t>
            </a:r>
            <a:endParaRPr lang="en-US" sz="2200" dirty="0"/>
          </a:p>
        </p:txBody>
      </p:sp>
      <p:sp>
        <p:nvSpPr>
          <p:cNvPr id="7" name="Text 5"/>
          <p:cNvSpPr/>
          <p:nvPr/>
        </p:nvSpPr>
        <p:spPr>
          <a:xfrm>
            <a:off x="1737360" y="5349240"/>
            <a:ext cx="2331720" cy="365760"/>
          </a:xfrm>
          <a:prstGeom prst="rect">
            <a:avLst/>
          </a:prstGeom>
          <a:noFill/>
          <a:ln/>
        </p:spPr>
        <p:txBody>
          <a:bodyPr wrap="square" lIns="0" tIns="0" rIns="0" bIns="0" rtlCol="0" anchor="ctr"/>
          <a:lstStyle/>
          <a:p>
            <a:pPr marL="0" indent="0">
              <a:buNone/>
            </a:pPr>
            <a:r>
              <a:rPr lang="en-US" sz="1300" i="1" dirty="0">
                <a:solidFill>
                  <a:srgbClr val="FFB81C"/>
                </a:solidFill>
                <a:latin typeface="Calibri" pitchFamily="34" charset="0"/>
                <a:ea typeface="Calibri" pitchFamily="34" charset="-122"/>
                <a:cs typeface="Calibri" pitchFamily="34" charset="-120"/>
              </a:rPr>
              <a:t>30 seconds</a:t>
            </a:r>
            <a:endParaRPr lang="en-US" sz="1300" dirty="0"/>
          </a:p>
        </p:txBody>
      </p:sp>
      <p:sp>
        <p:nvSpPr>
          <p:cNvPr id="8" name="Shape 6"/>
          <p:cNvSpPr/>
          <p:nvPr/>
        </p:nvSpPr>
        <p:spPr>
          <a:xfrm>
            <a:off x="4480560" y="4572000"/>
            <a:ext cx="3611880" cy="1371600"/>
          </a:xfrm>
          <a:prstGeom prst="rect">
            <a:avLst/>
          </a:prstGeom>
          <a:solidFill>
            <a:srgbClr val="FFFFFF">
              <a:alpha val="10000"/>
            </a:srgbClr>
          </a:solidFill>
          <a:ln w="12700">
            <a:solidFill>
              <a:srgbClr val="FFB81C"/>
            </a:solidFill>
            <a:prstDash val="solid"/>
          </a:ln>
        </p:spPr>
        <p:txBody>
          <a:bodyPr/>
          <a:lstStyle/>
          <a:p>
            <a:endParaRPr lang="en-US"/>
          </a:p>
        </p:txBody>
      </p:sp>
      <p:sp>
        <p:nvSpPr>
          <p:cNvPr id="9" name="Text 7"/>
          <p:cNvSpPr/>
          <p:nvPr/>
        </p:nvSpPr>
        <p:spPr>
          <a:xfrm>
            <a:off x="4754880" y="4754880"/>
            <a:ext cx="731520" cy="1005840"/>
          </a:xfrm>
          <a:prstGeom prst="rect">
            <a:avLst/>
          </a:prstGeom>
          <a:noFill/>
          <a:ln/>
        </p:spPr>
        <p:txBody>
          <a:bodyPr wrap="square" lIns="0" tIns="0" rIns="0" bIns="0" rtlCol="0" anchor="ctr"/>
          <a:lstStyle/>
          <a:p>
            <a:pPr marL="0" indent="0">
              <a:buNone/>
            </a:pPr>
            <a:r>
              <a:rPr lang="en-US" sz="5600" b="1" dirty="0">
                <a:solidFill>
                  <a:srgbClr val="FFB81C"/>
                </a:solidFill>
                <a:latin typeface="Georgia" pitchFamily="34" charset="0"/>
                <a:ea typeface="Georgia" pitchFamily="34" charset="-122"/>
                <a:cs typeface="Georgia" pitchFamily="34" charset="-120"/>
              </a:rPr>
              <a:t>2</a:t>
            </a:r>
            <a:endParaRPr lang="en-US" sz="5600" dirty="0"/>
          </a:p>
        </p:txBody>
      </p:sp>
      <p:sp>
        <p:nvSpPr>
          <p:cNvPr id="10" name="Text 8"/>
          <p:cNvSpPr/>
          <p:nvPr/>
        </p:nvSpPr>
        <p:spPr>
          <a:xfrm>
            <a:off x="5577840" y="4846320"/>
            <a:ext cx="2331720" cy="45720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Pair-share</a:t>
            </a:r>
            <a:endParaRPr lang="en-US" sz="2200" dirty="0"/>
          </a:p>
        </p:txBody>
      </p:sp>
      <p:sp>
        <p:nvSpPr>
          <p:cNvPr id="11" name="Text 9"/>
          <p:cNvSpPr/>
          <p:nvPr/>
        </p:nvSpPr>
        <p:spPr>
          <a:xfrm>
            <a:off x="5577840" y="5349240"/>
            <a:ext cx="2331720" cy="365760"/>
          </a:xfrm>
          <a:prstGeom prst="rect">
            <a:avLst/>
          </a:prstGeom>
          <a:noFill/>
          <a:ln/>
        </p:spPr>
        <p:txBody>
          <a:bodyPr wrap="square" lIns="0" tIns="0" rIns="0" bIns="0" rtlCol="0" anchor="ctr"/>
          <a:lstStyle/>
          <a:p>
            <a:pPr marL="0" indent="0">
              <a:buNone/>
            </a:pPr>
            <a:r>
              <a:rPr lang="en-US" sz="1300" i="1" dirty="0">
                <a:solidFill>
                  <a:srgbClr val="FFB81C"/>
                </a:solidFill>
                <a:latin typeface="Calibri" pitchFamily="34" charset="0"/>
                <a:ea typeface="Calibri" pitchFamily="34" charset="-122"/>
                <a:cs typeface="Calibri" pitchFamily="34" charset="-120"/>
              </a:rPr>
              <a:t>2 minutes</a:t>
            </a:r>
            <a:endParaRPr lang="en-US" sz="1300" dirty="0"/>
          </a:p>
        </p:txBody>
      </p:sp>
      <p:sp>
        <p:nvSpPr>
          <p:cNvPr id="12" name="Shape 10"/>
          <p:cNvSpPr/>
          <p:nvPr/>
        </p:nvSpPr>
        <p:spPr>
          <a:xfrm>
            <a:off x="8321040" y="4572000"/>
            <a:ext cx="3611880" cy="1371600"/>
          </a:xfrm>
          <a:prstGeom prst="rect">
            <a:avLst/>
          </a:prstGeom>
          <a:solidFill>
            <a:srgbClr val="FFFFFF">
              <a:alpha val="10000"/>
            </a:srgbClr>
          </a:solidFill>
          <a:ln w="12700">
            <a:solidFill>
              <a:srgbClr val="FFB81C"/>
            </a:solidFill>
            <a:prstDash val="solid"/>
          </a:ln>
        </p:spPr>
        <p:txBody>
          <a:bodyPr/>
          <a:lstStyle/>
          <a:p>
            <a:endParaRPr lang="en-US"/>
          </a:p>
        </p:txBody>
      </p:sp>
      <p:sp>
        <p:nvSpPr>
          <p:cNvPr id="13" name="Text 11"/>
          <p:cNvSpPr/>
          <p:nvPr/>
        </p:nvSpPr>
        <p:spPr>
          <a:xfrm>
            <a:off x="8595360" y="4754880"/>
            <a:ext cx="731520" cy="1005840"/>
          </a:xfrm>
          <a:prstGeom prst="rect">
            <a:avLst/>
          </a:prstGeom>
          <a:noFill/>
          <a:ln/>
        </p:spPr>
        <p:txBody>
          <a:bodyPr wrap="square" lIns="0" tIns="0" rIns="0" bIns="0" rtlCol="0" anchor="ctr"/>
          <a:lstStyle/>
          <a:p>
            <a:pPr marL="0" indent="0">
              <a:buNone/>
            </a:pPr>
            <a:r>
              <a:rPr lang="en-US" sz="5600" b="1" dirty="0">
                <a:solidFill>
                  <a:srgbClr val="FFB81C"/>
                </a:solidFill>
                <a:latin typeface="Georgia" pitchFamily="34" charset="0"/>
                <a:ea typeface="Georgia" pitchFamily="34" charset="-122"/>
                <a:cs typeface="Georgia" pitchFamily="34" charset="-120"/>
              </a:rPr>
              <a:t>3</a:t>
            </a:r>
            <a:endParaRPr lang="en-US" sz="5600" dirty="0"/>
          </a:p>
        </p:txBody>
      </p:sp>
      <p:sp>
        <p:nvSpPr>
          <p:cNvPr id="14" name="Text 12"/>
          <p:cNvSpPr/>
          <p:nvPr/>
        </p:nvSpPr>
        <p:spPr>
          <a:xfrm>
            <a:off x="9418320" y="4846320"/>
            <a:ext cx="2331720" cy="45720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Debrief</a:t>
            </a:r>
            <a:endParaRPr lang="en-US" sz="2200" dirty="0"/>
          </a:p>
        </p:txBody>
      </p:sp>
      <p:sp>
        <p:nvSpPr>
          <p:cNvPr id="15" name="Text 13"/>
          <p:cNvSpPr/>
          <p:nvPr/>
        </p:nvSpPr>
        <p:spPr>
          <a:xfrm>
            <a:off x="9418320" y="5349240"/>
            <a:ext cx="2331720" cy="365760"/>
          </a:xfrm>
          <a:prstGeom prst="rect">
            <a:avLst/>
          </a:prstGeom>
          <a:noFill/>
          <a:ln/>
        </p:spPr>
        <p:txBody>
          <a:bodyPr wrap="square" lIns="0" tIns="0" rIns="0" bIns="0" rtlCol="0" anchor="ctr"/>
          <a:lstStyle/>
          <a:p>
            <a:pPr marL="0" indent="0">
              <a:buNone/>
            </a:pPr>
            <a:r>
              <a:rPr lang="en-US" sz="1300" i="1" dirty="0">
                <a:solidFill>
                  <a:srgbClr val="FFB81C"/>
                </a:solidFill>
                <a:latin typeface="Calibri" pitchFamily="34" charset="0"/>
                <a:ea typeface="Calibri" pitchFamily="34" charset="-122"/>
                <a:cs typeface="Calibri" pitchFamily="34" charset="-120"/>
              </a:rPr>
              <a:t>1 minute</a:t>
            </a:r>
            <a:endParaRPr lang="en-US" sz="1300" dirty="0"/>
          </a:p>
        </p:txBody>
      </p:sp>
      <p:sp>
        <p:nvSpPr>
          <p:cNvPr id="16" name="Text 14"/>
          <p:cNvSpPr/>
          <p:nvPr/>
        </p:nvSpPr>
        <p:spPr>
          <a:xfrm>
            <a:off x="457200" y="6492240"/>
            <a:ext cx="7315200" cy="274320"/>
          </a:xfrm>
          <a:prstGeom prst="rect">
            <a:avLst/>
          </a:prstGeom>
          <a:noFill/>
          <a:ln/>
        </p:spPr>
        <p:txBody>
          <a:bodyPr wrap="square" lIns="0" tIns="0" rIns="0" bIns="0" rtlCol="0" anchor="ctr"/>
          <a:lstStyle/>
          <a:p>
            <a:pPr marL="0" indent="0" algn="l">
              <a:buNone/>
            </a:pPr>
            <a:r>
              <a:rPr lang="en-US" sz="900" dirty="0">
                <a:solidFill>
                  <a:srgbClr val="4A5568"/>
                </a:solidFill>
                <a:latin typeface="Calibri" pitchFamily="34" charset="0"/>
                <a:ea typeface="Calibri" pitchFamily="34" charset="-122"/>
                <a:cs typeface="Calibri" pitchFamily="34" charset="-120"/>
              </a:rPr>
              <a:t>LARC K–16 Counselor Summit  ·  Vincent Calip, LBCC</a:t>
            </a:r>
            <a:endParaRPr lang="en-US" sz="900" dirty="0"/>
          </a:p>
        </p:txBody>
      </p:sp>
      <p:sp>
        <p:nvSpPr>
          <p:cNvPr id="17" name="Text 15"/>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9 / 16</a:t>
            </a:r>
            <a:endParaRPr lang="en-US" sz="9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40080"/>
            <a:ext cx="10972800" cy="365760"/>
          </a:xfrm>
          <a:prstGeom prst="rect">
            <a:avLst/>
          </a:prstGeom>
          <a:noFill/>
          <a:ln/>
        </p:spPr>
        <p:txBody>
          <a:bodyPr wrap="square" lIns="0" tIns="0" rIns="0" bIns="0" rtlCol="0" anchor="ctr"/>
          <a:lstStyle/>
          <a:p>
            <a:pPr marL="0" indent="0">
              <a:buNone/>
            </a:pPr>
            <a:r>
              <a:rPr lang="en-US" sz="1100" b="1" kern="0" spc="400" dirty="0">
                <a:solidFill>
                  <a:srgbClr val="FFB81C"/>
                </a:solidFill>
                <a:latin typeface="Calibri" pitchFamily="34" charset="0"/>
                <a:ea typeface="Calibri" pitchFamily="34" charset="-122"/>
                <a:cs typeface="Calibri" pitchFamily="34" charset="-120"/>
              </a:rPr>
              <a:t>SCENARIO 1</a:t>
            </a:r>
            <a:endParaRPr lang="en-US" sz="1100" dirty="0"/>
          </a:p>
        </p:txBody>
      </p:sp>
      <p:sp>
        <p:nvSpPr>
          <p:cNvPr id="3" name="Shape 1"/>
          <p:cNvSpPr/>
          <p:nvPr/>
        </p:nvSpPr>
        <p:spPr>
          <a:xfrm>
            <a:off x="640080" y="1280160"/>
            <a:ext cx="3840480" cy="4846320"/>
          </a:xfrm>
          <a:prstGeom prst="rect">
            <a:avLst/>
          </a:prstGeom>
          <a:solidFill>
            <a:srgbClr val="FAF7F0"/>
          </a:solidFill>
          <a:ln/>
        </p:spPr>
        <p:txBody>
          <a:bodyPr/>
          <a:lstStyle/>
          <a:p>
            <a:endParaRPr lang="en-US"/>
          </a:p>
        </p:txBody>
      </p:sp>
      <p:sp>
        <p:nvSpPr>
          <p:cNvPr id="4" name="Shape 2"/>
          <p:cNvSpPr/>
          <p:nvPr/>
        </p:nvSpPr>
        <p:spPr>
          <a:xfrm>
            <a:off x="640080" y="1280160"/>
            <a:ext cx="3840480" cy="73152"/>
          </a:xfrm>
          <a:prstGeom prst="rect">
            <a:avLst/>
          </a:prstGeom>
          <a:solidFill>
            <a:srgbClr val="FFB81C"/>
          </a:solidFill>
          <a:ln/>
        </p:spPr>
        <p:txBody>
          <a:bodyPr/>
          <a:lstStyle/>
          <a:p>
            <a:endParaRPr lang="en-US"/>
          </a:p>
        </p:txBody>
      </p:sp>
      <p:sp>
        <p:nvSpPr>
          <p:cNvPr id="5" name="Shape 3"/>
          <p:cNvSpPr/>
          <p:nvPr/>
        </p:nvSpPr>
        <p:spPr>
          <a:xfrm>
            <a:off x="1280160" y="1783080"/>
            <a:ext cx="1463040" cy="1463040"/>
          </a:xfrm>
          <a:prstGeom prst="ellipse">
            <a:avLst/>
          </a:prstGeom>
          <a:solidFill>
            <a:srgbClr val="003366"/>
          </a:solidFill>
          <a:ln/>
        </p:spPr>
        <p:txBody>
          <a:bodyPr/>
          <a:lstStyle/>
          <a:p>
            <a:endParaRPr lang="en-US"/>
          </a:p>
        </p:txBody>
      </p:sp>
      <p:sp>
        <p:nvSpPr>
          <p:cNvPr id="6" name="Text 4"/>
          <p:cNvSpPr/>
          <p:nvPr/>
        </p:nvSpPr>
        <p:spPr>
          <a:xfrm>
            <a:off x="1280160" y="1783080"/>
            <a:ext cx="1463040" cy="1463040"/>
          </a:xfrm>
          <a:prstGeom prst="rect">
            <a:avLst/>
          </a:prstGeom>
          <a:noFill/>
          <a:ln/>
        </p:spPr>
        <p:txBody>
          <a:bodyPr wrap="square" lIns="0" tIns="0" rIns="0" bIns="0" rtlCol="0" anchor="ctr"/>
          <a:lstStyle/>
          <a:p>
            <a:pPr marL="0" indent="0" algn="ctr">
              <a:buNone/>
            </a:pPr>
            <a:r>
              <a:rPr lang="en-US" sz="6000" b="1" dirty="0">
                <a:solidFill>
                  <a:srgbClr val="FFB81C"/>
                </a:solidFill>
                <a:latin typeface="Georgia" pitchFamily="34" charset="0"/>
                <a:ea typeface="Georgia" pitchFamily="34" charset="-122"/>
                <a:cs typeface="Georgia" pitchFamily="34" charset="-120"/>
              </a:rPr>
              <a:t>M</a:t>
            </a:r>
            <a:endParaRPr lang="en-US" sz="6000" dirty="0"/>
          </a:p>
        </p:txBody>
      </p:sp>
      <p:sp>
        <p:nvSpPr>
          <p:cNvPr id="7" name="Text 5"/>
          <p:cNvSpPr/>
          <p:nvPr/>
        </p:nvSpPr>
        <p:spPr>
          <a:xfrm>
            <a:off x="914400" y="3474720"/>
            <a:ext cx="3291840" cy="548640"/>
          </a:xfrm>
          <a:prstGeom prst="rect">
            <a:avLst/>
          </a:prstGeom>
          <a:noFill/>
          <a:ln/>
        </p:spPr>
        <p:txBody>
          <a:bodyPr wrap="square" lIns="0" tIns="0" rIns="0" bIns="0" rtlCol="0" anchor="ctr"/>
          <a:lstStyle/>
          <a:p>
            <a:pPr marL="0" indent="0" algn="ctr">
              <a:buNone/>
            </a:pPr>
            <a:r>
              <a:rPr lang="en-US" sz="2800" b="1" dirty="0">
                <a:solidFill>
                  <a:srgbClr val="003366"/>
                </a:solidFill>
                <a:latin typeface="Georgia" pitchFamily="34" charset="0"/>
                <a:ea typeface="Georgia" pitchFamily="34" charset="-122"/>
                <a:cs typeface="Georgia" pitchFamily="34" charset="-120"/>
              </a:rPr>
              <a:t>Maria</a:t>
            </a:r>
            <a:endParaRPr lang="en-US" sz="2800" dirty="0"/>
          </a:p>
        </p:txBody>
      </p:sp>
      <p:sp>
        <p:nvSpPr>
          <p:cNvPr id="8" name="Text 6"/>
          <p:cNvSpPr/>
          <p:nvPr/>
        </p:nvSpPr>
        <p:spPr>
          <a:xfrm>
            <a:off x="914400" y="4023360"/>
            <a:ext cx="3291840" cy="365760"/>
          </a:xfrm>
          <a:prstGeom prst="rect">
            <a:avLst/>
          </a:prstGeom>
          <a:noFill/>
          <a:ln/>
        </p:spPr>
        <p:txBody>
          <a:bodyPr wrap="square" lIns="0" tIns="0" rIns="0" bIns="0" rtlCol="0" anchor="ctr"/>
          <a:lstStyle/>
          <a:p>
            <a:pPr marL="0" indent="0" algn="ctr">
              <a:buNone/>
            </a:pPr>
            <a:r>
              <a:rPr lang="en-US" sz="1400" i="1" dirty="0">
                <a:solidFill>
                  <a:srgbClr val="4A5568"/>
                </a:solidFill>
                <a:latin typeface="Calibri" pitchFamily="34" charset="0"/>
                <a:ea typeface="Calibri" pitchFamily="34" charset="-122"/>
                <a:cs typeface="Calibri" pitchFamily="34" charset="-120"/>
              </a:rPr>
              <a:t>Grade 11  ·  Aspiring nurse</a:t>
            </a:r>
            <a:endParaRPr lang="en-US" sz="1400" dirty="0"/>
          </a:p>
        </p:txBody>
      </p:sp>
      <p:sp>
        <p:nvSpPr>
          <p:cNvPr id="9" name="Text 7"/>
          <p:cNvSpPr/>
          <p:nvPr/>
        </p:nvSpPr>
        <p:spPr>
          <a:xfrm>
            <a:off x="914400" y="4754880"/>
            <a:ext cx="3291840" cy="1097280"/>
          </a:xfrm>
          <a:prstGeom prst="rect">
            <a:avLst/>
          </a:prstGeom>
          <a:noFill/>
          <a:ln/>
        </p:spPr>
        <p:txBody>
          <a:bodyPr wrap="square" lIns="0" tIns="0" rIns="0" bIns="0" rtlCol="0" anchor="ctr"/>
          <a:lstStyle/>
          <a:p>
            <a:pPr marL="0" indent="0" algn="ctr">
              <a:buNone/>
            </a:pPr>
            <a:r>
              <a:rPr lang="en-US" sz="1400" dirty="0">
                <a:solidFill>
                  <a:srgbClr val="1A1A1A"/>
                </a:solidFill>
                <a:latin typeface="Calibri" pitchFamily="34" charset="0"/>
                <a:ea typeface="Calibri" pitchFamily="34" charset="-122"/>
                <a:cs typeface="Calibri" pitchFamily="34" charset="-120"/>
              </a:rPr>
              <a:t>11th grader. Wants to be a nurse.</a:t>
            </a:r>
            <a:endParaRPr lang="en-US" sz="1400" dirty="0"/>
          </a:p>
        </p:txBody>
      </p:sp>
      <p:sp>
        <p:nvSpPr>
          <p:cNvPr id="10" name="Text 8"/>
          <p:cNvSpPr/>
          <p:nvPr/>
        </p:nvSpPr>
        <p:spPr>
          <a:xfrm>
            <a:off x="4846320" y="1188720"/>
            <a:ext cx="914400" cy="1097280"/>
          </a:xfrm>
          <a:prstGeom prst="rect">
            <a:avLst/>
          </a:prstGeom>
          <a:noFill/>
          <a:ln/>
        </p:spPr>
        <p:txBody>
          <a:bodyPr wrap="square" lIns="0" tIns="0" rIns="0" bIns="0" rtlCol="0" anchor="ctr"/>
          <a:lstStyle/>
          <a:p>
            <a:pPr marL="0" indent="0">
              <a:buNone/>
            </a:pPr>
            <a:r>
              <a:rPr lang="en-US" sz="11000" b="1" dirty="0">
                <a:solidFill>
                  <a:srgbClr val="FFB81C"/>
                </a:solidFill>
                <a:latin typeface="Georgia" pitchFamily="34" charset="0"/>
                <a:ea typeface="Georgia" pitchFamily="34" charset="-122"/>
                <a:cs typeface="Georgia" pitchFamily="34" charset="-120"/>
              </a:rPr>
              <a:t>“</a:t>
            </a:r>
            <a:endParaRPr lang="en-US" sz="11000" dirty="0"/>
          </a:p>
        </p:txBody>
      </p:sp>
      <p:sp>
        <p:nvSpPr>
          <p:cNvPr id="11" name="Text 9"/>
          <p:cNvSpPr/>
          <p:nvPr/>
        </p:nvSpPr>
        <p:spPr>
          <a:xfrm>
            <a:off x="4846320" y="2011680"/>
            <a:ext cx="6675120" cy="3200400"/>
          </a:xfrm>
          <a:prstGeom prst="rect">
            <a:avLst/>
          </a:prstGeom>
          <a:noFill/>
          <a:ln/>
        </p:spPr>
        <p:txBody>
          <a:bodyPr wrap="square" lIns="0" tIns="0" rIns="0" bIns="0" rtlCol="0" anchor="ctr"/>
          <a:lstStyle/>
          <a:p>
            <a:pPr marL="0" indent="0">
              <a:buNone/>
            </a:pPr>
            <a:r>
              <a:rPr lang="en-US" sz="2800" i="1" dirty="0">
                <a:solidFill>
                  <a:srgbClr val="1A1A1A"/>
                </a:solidFill>
                <a:latin typeface="Georgia" pitchFamily="34" charset="0"/>
                <a:ea typeface="Georgia" pitchFamily="34" charset="-122"/>
                <a:cs typeface="Georgia" pitchFamily="34" charset="-120"/>
              </a:rPr>
              <a:t>I want to be a nurse. I don't really need AI stuff — I just want to help people.</a:t>
            </a:r>
            <a:endParaRPr lang="en-US" sz="2800" dirty="0"/>
          </a:p>
        </p:txBody>
      </p:sp>
      <p:sp>
        <p:nvSpPr>
          <p:cNvPr id="12" name="Shape 10"/>
          <p:cNvSpPr/>
          <p:nvPr/>
        </p:nvSpPr>
        <p:spPr>
          <a:xfrm>
            <a:off x="4846320" y="5440680"/>
            <a:ext cx="6675120" cy="731520"/>
          </a:xfrm>
          <a:prstGeom prst="rect">
            <a:avLst/>
          </a:prstGeom>
          <a:solidFill>
            <a:srgbClr val="003366"/>
          </a:solidFill>
          <a:ln/>
        </p:spPr>
        <p:txBody>
          <a:bodyPr/>
          <a:lstStyle/>
          <a:p>
            <a:endParaRPr lang="en-US"/>
          </a:p>
        </p:txBody>
      </p:sp>
      <p:sp>
        <p:nvSpPr>
          <p:cNvPr id="13" name="Text 11"/>
          <p:cNvSpPr/>
          <p:nvPr/>
        </p:nvSpPr>
        <p:spPr>
          <a:xfrm>
            <a:off x="5029200" y="5440680"/>
            <a:ext cx="6400800" cy="73152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How would you advise this student?</a:t>
            </a:r>
            <a:endParaRPr lang="en-US" sz="1800" dirty="0"/>
          </a:p>
        </p:txBody>
      </p:sp>
      <p:sp>
        <p:nvSpPr>
          <p:cNvPr id="14" name="Text 12"/>
          <p:cNvSpPr/>
          <p:nvPr/>
        </p:nvSpPr>
        <p:spPr>
          <a:xfrm>
            <a:off x="457200" y="6492240"/>
            <a:ext cx="7315200" cy="274320"/>
          </a:xfrm>
          <a:prstGeom prst="rect">
            <a:avLst/>
          </a:prstGeom>
          <a:noFill/>
          <a:ln/>
        </p:spPr>
        <p:txBody>
          <a:bodyPr wrap="square" lIns="0" tIns="0" rIns="0" bIns="0" rtlCol="0" anchor="ctr"/>
          <a:lstStyle/>
          <a:p>
            <a:pPr marL="0" indent="0" algn="l">
              <a:buNone/>
            </a:pPr>
            <a:r>
              <a:rPr lang="en-US" sz="900" dirty="0">
                <a:solidFill>
                  <a:srgbClr val="4A5568"/>
                </a:solidFill>
                <a:latin typeface="Calibri" pitchFamily="34" charset="0"/>
                <a:ea typeface="Calibri" pitchFamily="34" charset="-122"/>
                <a:cs typeface="Calibri" pitchFamily="34" charset="-120"/>
              </a:rPr>
              <a:t>LARC K–16 Counselor Summit  ·  Vincent Calip, LBCC</a:t>
            </a:r>
            <a:endParaRPr lang="en-US" sz="900" dirty="0"/>
          </a:p>
        </p:txBody>
      </p:sp>
      <p:sp>
        <p:nvSpPr>
          <p:cNvPr id="15" name="Text 13"/>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10 / 16</a:t>
            </a:r>
            <a:endParaRPr lang="en-US" sz="9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40080"/>
            <a:ext cx="10972800" cy="365760"/>
          </a:xfrm>
          <a:prstGeom prst="rect">
            <a:avLst/>
          </a:prstGeom>
          <a:noFill/>
          <a:ln/>
        </p:spPr>
        <p:txBody>
          <a:bodyPr wrap="square" lIns="0" tIns="0" rIns="0" bIns="0" rtlCol="0" anchor="ctr"/>
          <a:lstStyle/>
          <a:p>
            <a:pPr marL="0" indent="0">
              <a:buNone/>
            </a:pPr>
            <a:r>
              <a:rPr lang="en-US" sz="1100" b="1" kern="0" spc="400" dirty="0">
                <a:solidFill>
                  <a:srgbClr val="FFB81C"/>
                </a:solidFill>
                <a:latin typeface="Calibri" pitchFamily="34" charset="0"/>
                <a:ea typeface="Calibri" pitchFamily="34" charset="-122"/>
                <a:cs typeface="Calibri" pitchFamily="34" charset="-120"/>
              </a:rPr>
              <a:t>SCENARIO 2</a:t>
            </a:r>
            <a:endParaRPr lang="en-US" sz="1100" dirty="0"/>
          </a:p>
        </p:txBody>
      </p:sp>
      <p:sp>
        <p:nvSpPr>
          <p:cNvPr id="3" name="Shape 1"/>
          <p:cNvSpPr/>
          <p:nvPr/>
        </p:nvSpPr>
        <p:spPr>
          <a:xfrm>
            <a:off x="640080" y="1280160"/>
            <a:ext cx="3840480" cy="4846320"/>
          </a:xfrm>
          <a:prstGeom prst="rect">
            <a:avLst/>
          </a:prstGeom>
          <a:solidFill>
            <a:srgbClr val="FAF7F0"/>
          </a:solidFill>
          <a:ln/>
        </p:spPr>
        <p:txBody>
          <a:bodyPr/>
          <a:lstStyle/>
          <a:p>
            <a:endParaRPr lang="en-US"/>
          </a:p>
        </p:txBody>
      </p:sp>
      <p:sp>
        <p:nvSpPr>
          <p:cNvPr id="4" name="Shape 2"/>
          <p:cNvSpPr/>
          <p:nvPr/>
        </p:nvSpPr>
        <p:spPr>
          <a:xfrm>
            <a:off x="640080" y="1280160"/>
            <a:ext cx="3840480" cy="73152"/>
          </a:xfrm>
          <a:prstGeom prst="rect">
            <a:avLst/>
          </a:prstGeom>
          <a:solidFill>
            <a:srgbClr val="FFB81C"/>
          </a:solidFill>
          <a:ln/>
        </p:spPr>
        <p:txBody>
          <a:bodyPr/>
          <a:lstStyle/>
          <a:p>
            <a:endParaRPr lang="en-US"/>
          </a:p>
        </p:txBody>
      </p:sp>
      <p:sp>
        <p:nvSpPr>
          <p:cNvPr id="5" name="Shape 3"/>
          <p:cNvSpPr/>
          <p:nvPr/>
        </p:nvSpPr>
        <p:spPr>
          <a:xfrm>
            <a:off x="1280160" y="1783080"/>
            <a:ext cx="1463040" cy="1463040"/>
          </a:xfrm>
          <a:prstGeom prst="ellipse">
            <a:avLst/>
          </a:prstGeom>
          <a:solidFill>
            <a:srgbClr val="003366"/>
          </a:solidFill>
          <a:ln/>
        </p:spPr>
        <p:txBody>
          <a:bodyPr/>
          <a:lstStyle/>
          <a:p>
            <a:endParaRPr lang="en-US"/>
          </a:p>
        </p:txBody>
      </p:sp>
      <p:sp>
        <p:nvSpPr>
          <p:cNvPr id="6" name="Text 4"/>
          <p:cNvSpPr/>
          <p:nvPr/>
        </p:nvSpPr>
        <p:spPr>
          <a:xfrm>
            <a:off x="1280160" y="1783080"/>
            <a:ext cx="1463040" cy="1463040"/>
          </a:xfrm>
          <a:prstGeom prst="rect">
            <a:avLst/>
          </a:prstGeom>
          <a:noFill/>
          <a:ln/>
        </p:spPr>
        <p:txBody>
          <a:bodyPr wrap="square" lIns="0" tIns="0" rIns="0" bIns="0" rtlCol="0" anchor="ctr"/>
          <a:lstStyle/>
          <a:p>
            <a:pPr marL="0" indent="0" algn="ctr">
              <a:buNone/>
            </a:pPr>
            <a:r>
              <a:rPr lang="en-US" sz="6000" b="1" dirty="0">
                <a:solidFill>
                  <a:srgbClr val="FFB81C"/>
                </a:solidFill>
                <a:latin typeface="Georgia" pitchFamily="34" charset="0"/>
                <a:ea typeface="Georgia" pitchFamily="34" charset="-122"/>
                <a:cs typeface="Georgia" pitchFamily="34" charset="-120"/>
              </a:rPr>
              <a:t>J</a:t>
            </a:r>
            <a:endParaRPr lang="en-US" sz="6000" dirty="0"/>
          </a:p>
        </p:txBody>
      </p:sp>
      <p:sp>
        <p:nvSpPr>
          <p:cNvPr id="7" name="Text 5"/>
          <p:cNvSpPr/>
          <p:nvPr/>
        </p:nvSpPr>
        <p:spPr>
          <a:xfrm>
            <a:off x="914400" y="3474720"/>
            <a:ext cx="3291840" cy="548640"/>
          </a:xfrm>
          <a:prstGeom prst="rect">
            <a:avLst/>
          </a:prstGeom>
          <a:noFill/>
          <a:ln/>
        </p:spPr>
        <p:txBody>
          <a:bodyPr wrap="square" lIns="0" tIns="0" rIns="0" bIns="0" rtlCol="0" anchor="ctr"/>
          <a:lstStyle/>
          <a:p>
            <a:pPr marL="0" indent="0" algn="ctr">
              <a:buNone/>
            </a:pPr>
            <a:r>
              <a:rPr lang="en-US" sz="2800" b="1" dirty="0">
                <a:solidFill>
                  <a:srgbClr val="003366"/>
                </a:solidFill>
                <a:latin typeface="Georgia" pitchFamily="34" charset="0"/>
                <a:ea typeface="Georgia" pitchFamily="34" charset="-122"/>
                <a:cs typeface="Georgia" pitchFamily="34" charset="-120"/>
              </a:rPr>
              <a:t>Jaylen</a:t>
            </a:r>
            <a:endParaRPr lang="en-US" sz="2800" dirty="0"/>
          </a:p>
        </p:txBody>
      </p:sp>
      <p:sp>
        <p:nvSpPr>
          <p:cNvPr id="8" name="Text 6"/>
          <p:cNvSpPr/>
          <p:nvPr/>
        </p:nvSpPr>
        <p:spPr>
          <a:xfrm>
            <a:off x="914400" y="4023360"/>
            <a:ext cx="3291840" cy="365760"/>
          </a:xfrm>
          <a:prstGeom prst="rect">
            <a:avLst/>
          </a:prstGeom>
          <a:noFill/>
          <a:ln/>
        </p:spPr>
        <p:txBody>
          <a:bodyPr wrap="square" lIns="0" tIns="0" rIns="0" bIns="0" rtlCol="0" anchor="ctr"/>
          <a:lstStyle/>
          <a:p>
            <a:pPr marL="0" indent="0" algn="ctr">
              <a:buNone/>
            </a:pPr>
            <a:r>
              <a:rPr lang="en-US" sz="1400" i="1" dirty="0">
                <a:solidFill>
                  <a:srgbClr val="4A5568"/>
                </a:solidFill>
                <a:latin typeface="Calibri" pitchFamily="34" charset="0"/>
                <a:ea typeface="Calibri" pitchFamily="34" charset="-122"/>
                <a:cs typeface="Calibri" pitchFamily="34" charset="-120"/>
              </a:rPr>
              <a:t>Grade 12  ·  Undecided</a:t>
            </a:r>
            <a:endParaRPr lang="en-US" sz="1400" dirty="0"/>
          </a:p>
        </p:txBody>
      </p:sp>
      <p:sp>
        <p:nvSpPr>
          <p:cNvPr id="9" name="Text 7"/>
          <p:cNvSpPr/>
          <p:nvPr/>
        </p:nvSpPr>
        <p:spPr>
          <a:xfrm>
            <a:off x="914400" y="4754880"/>
            <a:ext cx="3291840" cy="1097280"/>
          </a:xfrm>
          <a:prstGeom prst="rect">
            <a:avLst/>
          </a:prstGeom>
          <a:noFill/>
          <a:ln/>
        </p:spPr>
        <p:txBody>
          <a:bodyPr wrap="square" lIns="0" tIns="0" rIns="0" bIns="0" rtlCol="0" anchor="ctr"/>
          <a:lstStyle/>
          <a:p>
            <a:pPr marL="0" indent="0" algn="ctr">
              <a:buNone/>
            </a:pPr>
            <a:r>
              <a:rPr lang="en-US" sz="1400" dirty="0">
                <a:solidFill>
                  <a:srgbClr val="1A1A1A"/>
                </a:solidFill>
                <a:latin typeface="Calibri" pitchFamily="34" charset="0"/>
                <a:ea typeface="Calibri" pitchFamily="34" charset="-122"/>
                <a:cs typeface="Calibri" pitchFamily="34" charset="-120"/>
              </a:rPr>
              <a:t>Senior. Undecided.</a:t>
            </a:r>
            <a:endParaRPr lang="en-US" sz="1400" dirty="0"/>
          </a:p>
        </p:txBody>
      </p:sp>
      <p:sp>
        <p:nvSpPr>
          <p:cNvPr id="10" name="Text 8"/>
          <p:cNvSpPr/>
          <p:nvPr/>
        </p:nvSpPr>
        <p:spPr>
          <a:xfrm>
            <a:off x="4846320" y="1188720"/>
            <a:ext cx="914400" cy="1097280"/>
          </a:xfrm>
          <a:prstGeom prst="rect">
            <a:avLst/>
          </a:prstGeom>
          <a:noFill/>
          <a:ln/>
        </p:spPr>
        <p:txBody>
          <a:bodyPr wrap="square" lIns="0" tIns="0" rIns="0" bIns="0" rtlCol="0" anchor="ctr"/>
          <a:lstStyle/>
          <a:p>
            <a:pPr marL="0" indent="0">
              <a:buNone/>
            </a:pPr>
            <a:r>
              <a:rPr lang="en-US" sz="11000" b="1" dirty="0">
                <a:solidFill>
                  <a:srgbClr val="FFB81C"/>
                </a:solidFill>
                <a:latin typeface="Georgia" pitchFamily="34" charset="0"/>
                <a:ea typeface="Georgia" pitchFamily="34" charset="-122"/>
                <a:cs typeface="Georgia" pitchFamily="34" charset="-120"/>
              </a:rPr>
              <a:t>“</a:t>
            </a:r>
            <a:endParaRPr lang="en-US" sz="11000" dirty="0"/>
          </a:p>
        </p:txBody>
      </p:sp>
      <p:sp>
        <p:nvSpPr>
          <p:cNvPr id="11" name="Text 9"/>
          <p:cNvSpPr/>
          <p:nvPr/>
        </p:nvSpPr>
        <p:spPr>
          <a:xfrm>
            <a:off x="4846320" y="2011680"/>
            <a:ext cx="6675120" cy="3200400"/>
          </a:xfrm>
          <a:prstGeom prst="rect">
            <a:avLst/>
          </a:prstGeom>
          <a:noFill/>
          <a:ln/>
        </p:spPr>
        <p:txBody>
          <a:bodyPr wrap="square" lIns="0" tIns="0" rIns="0" bIns="0" rtlCol="0" anchor="ctr"/>
          <a:lstStyle/>
          <a:p>
            <a:pPr marL="0" indent="0">
              <a:buNone/>
            </a:pPr>
            <a:r>
              <a:rPr lang="en-US" sz="2800" i="1" dirty="0">
                <a:solidFill>
                  <a:srgbClr val="1A1A1A"/>
                </a:solidFill>
                <a:latin typeface="Georgia" pitchFamily="34" charset="0"/>
                <a:ea typeface="Georgia" pitchFamily="34" charset="-122"/>
                <a:cs typeface="Georgia" pitchFamily="34" charset="-120"/>
              </a:rPr>
              <a:t>What's the point of choosing a career? AI's going to replace it all anyway.</a:t>
            </a:r>
            <a:endParaRPr lang="en-US" sz="2800" dirty="0"/>
          </a:p>
        </p:txBody>
      </p:sp>
      <p:sp>
        <p:nvSpPr>
          <p:cNvPr id="12" name="Shape 10"/>
          <p:cNvSpPr/>
          <p:nvPr/>
        </p:nvSpPr>
        <p:spPr>
          <a:xfrm>
            <a:off x="4846320" y="5440680"/>
            <a:ext cx="6675120" cy="731520"/>
          </a:xfrm>
          <a:prstGeom prst="rect">
            <a:avLst/>
          </a:prstGeom>
          <a:solidFill>
            <a:srgbClr val="003366"/>
          </a:solidFill>
          <a:ln/>
        </p:spPr>
        <p:txBody>
          <a:bodyPr/>
          <a:lstStyle/>
          <a:p>
            <a:endParaRPr lang="en-US"/>
          </a:p>
        </p:txBody>
      </p:sp>
      <p:sp>
        <p:nvSpPr>
          <p:cNvPr id="13" name="Text 11"/>
          <p:cNvSpPr/>
          <p:nvPr/>
        </p:nvSpPr>
        <p:spPr>
          <a:xfrm>
            <a:off x="5029200" y="5440680"/>
            <a:ext cx="6400800" cy="73152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How would you advise this student?</a:t>
            </a:r>
            <a:endParaRPr lang="en-US" sz="1800" dirty="0"/>
          </a:p>
        </p:txBody>
      </p:sp>
      <p:sp>
        <p:nvSpPr>
          <p:cNvPr id="14" name="Text 12"/>
          <p:cNvSpPr/>
          <p:nvPr/>
        </p:nvSpPr>
        <p:spPr>
          <a:xfrm>
            <a:off x="457200" y="6492240"/>
            <a:ext cx="7315200" cy="274320"/>
          </a:xfrm>
          <a:prstGeom prst="rect">
            <a:avLst/>
          </a:prstGeom>
          <a:noFill/>
          <a:ln/>
        </p:spPr>
        <p:txBody>
          <a:bodyPr wrap="square" lIns="0" tIns="0" rIns="0" bIns="0" rtlCol="0" anchor="ctr"/>
          <a:lstStyle/>
          <a:p>
            <a:pPr marL="0" indent="0" algn="l">
              <a:buNone/>
            </a:pPr>
            <a:r>
              <a:rPr lang="en-US" sz="900" dirty="0">
                <a:solidFill>
                  <a:srgbClr val="4A5568"/>
                </a:solidFill>
                <a:latin typeface="Calibri" pitchFamily="34" charset="0"/>
                <a:ea typeface="Calibri" pitchFamily="34" charset="-122"/>
                <a:cs typeface="Calibri" pitchFamily="34" charset="-120"/>
              </a:rPr>
              <a:t>LARC K–16 Counselor Summit  ·  Vincent Calip, LBCC</a:t>
            </a:r>
            <a:endParaRPr lang="en-US" sz="900" dirty="0"/>
          </a:p>
        </p:txBody>
      </p:sp>
      <p:sp>
        <p:nvSpPr>
          <p:cNvPr id="15" name="Text 13"/>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11 / 16</a:t>
            </a:r>
            <a:endParaRPr lang="en-US" sz="9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40080"/>
            <a:ext cx="10972800" cy="365760"/>
          </a:xfrm>
          <a:prstGeom prst="rect">
            <a:avLst/>
          </a:prstGeom>
          <a:noFill/>
          <a:ln/>
        </p:spPr>
        <p:txBody>
          <a:bodyPr wrap="square" lIns="0" tIns="0" rIns="0" bIns="0" rtlCol="0" anchor="ctr"/>
          <a:lstStyle/>
          <a:p>
            <a:pPr marL="0" indent="0">
              <a:buNone/>
            </a:pPr>
            <a:r>
              <a:rPr lang="en-US" sz="1100" b="1" kern="0" spc="400" dirty="0">
                <a:solidFill>
                  <a:srgbClr val="FFB81C"/>
                </a:solidFill>
                <a:latin typeface="Calibri" pitchFamily="34" charset="0"/>
                <a:ea typeface="Calibri" pitchFamily="34" charset="-122"/>
                <a:cs typeface="Calibri" pitchFamily="34" charset="-120"/>
              </a:rPr>
              <a:t>SCENARIO 3</a:t>
            </a:r>
            <a:endParaRPr lang="en-US" sz="1100" dirty="0"/>
          </a:p>
        </p:txBody>
      </p:sp>
      <p:sp>
        <p:nvSpPr>
          <p:cNvPr id="3" name="Shape 1"/>
          <p:cNvSpPr/>
          <p:nvPr/>
        </p:nvSpPr>
        <p:spPr>
          <a:xfrm>
            <a:off x="640080" y="1280160"/>
            <a:ext cx="3840480" cy="4846320"/>
          </a:xfrm>
          <a:prstGeom prst="rect">
            <a:avLst/>
          </a:prstGeom>
          <a:solidFill>
            <a:srgbClr val="FAF7F0"/>
          </a:solidFill>
          <a:ln/>
        </p:spPr>
        <p:txBody>
          <a:bodyPr/>
          <a:lstStyle/>
          <a:p>
            <a:endParaRPr lang="en-US"/>
          </a:p>
        </p:txBody>
      </p:sp>
      <p:sp>
        <p:nvSpPr>
          <p:cNvPr id="4" name="Shape 2"/>
          <p:cNvSpPr/>
          <p:nvPr/>
        </p:nvSpPr>
        <p:spPr>
          <a:xfrm>
            <a:off x="640080" y="1280160"/>
            <a:ext cx="3840480" cy="73152"/>
          </a:xfrm>
          <a:prstGeom prst="rect">
            <a:avLst/>
          </a:prstGeom>
          <a:solidFill>
            <a:srgbClr val="FFB81C"/>
          </a:solidFill>
          <a:ln/>
        </p:spPr>
        <p:txBody>
          <a:bodyPr/>
          <a:lstStyle/>
          <a:p>
            <a:endParaRPr lang="en-US"/>
          </a:p>
        </p:txBody>
      </p:sp>
      <p:sp>
        <p:nvSpPr>
          <p:cNvPr id="5" name="Shape 3"/>
          <p:cNvSpPr/>
          <p:nvPr/>
        </p:nvSpPr>
        <p:spPr>
          <a:xfrm>
            <a:off x="1280160" y="1783080"/>
            <a:ext cx="1463040" cy="1463040"/>
          </a:xfrm>
          <a:prstGeom prst="ellipse">
            <a:avLst/>
          </a:prstGeom>
          <a:solidFill>
            <a:srgbClr val="003366"/>
          </a:solidFill>
          <a:ln/>
        </p:spPr>
        <p:txBody>
          <a:bodyPr/>
          <a:lstStyle/>
          <a:p>
            <a:endParaRPr lang="en-US"/>
          </a:p>
        </p:txBody>
      </p:sp>
      <p:sp>
        <p:nvSpPr>
          <p:cNvPr id="6" name="Text 4"/>
          <p:cNvSpPr/>
          <p:nvPr/>
        </p:nvSpPr>
        <p:spPr>
          <a:xfrm>
            <a:off x="1280160" y="1783080"/>
            <a:ext cx="1463040" cy="1463040"/>
          </a:xfrm>
          <a:prstGeom prst="rect">
            <a:avLst/>
          </a:prstGeom>
          <a:noFill/>
          <a:ln/>
        </p:spPr>
        <p:txBody>
          <a:bodyPr wrap="square" lIns="0" tIns="0" rIns="0" bIns="0" rtlCol="0" anchor="ctr"/>
          <a:lstStyle/>
          <a:p>
            <a:pPr marL="0" indent="0" algn="ctr">
              <a:buNone/>
            </a:pPr>
            <a:r>
              <a:rPr lang="en-US" sz="6000" b="1" dirty="0">
                <a:solidFill>
                  <a:srgbClr val="FFB81C"/>
                </a:solidFill>
                <a:latin typeface="Georgia" pitchFamily="34" charset="0"/>
                <a:ea typeface="Georgia" pitchFamily="34" charset="-122"/>
                <a:cs typeface="Georgia" pitchFamily="34" charset="-120"/>
              </a:rPr>
              <a:t>P</a:t>
            </a:r>
            <a:endParaRPr lang="en-US" sz="6000" dirty="0"/>
          </a:p>
        </p:txBody>
      </p:sp>
      <p:sp>
        <p:nvSpPr>
          <p:cNvPr id="7" name="Text 5"/>
          <p:cNvSpPr/>
          <p:nvPr/>
        </p:nvSpPr>
        <p:spPr>
          <a:xfrm>
            <a:off x="914400" y="3474720"/>
            <a:ext cx="3291840" cy="548640"/>
          </a:xfrm>
          <a:prstGeom prst="rect">
            <a:avLst/>
          </a:prstGeom>
          <a:noFill/>
          <a:ln/>
        </p:spPr>
        <p:txBody>
          <a:bodyPr wrap="square" lIns="0" tIns="0" rIns="0" bIns="0" rtlCol="0" anchor="ctr"/>
          <a:lstStyle/>
          <a:p>
            <a:pPr marL="0" indent="0" algn="ctr">
              <a:buNone/>
            </a:pPr>
            <a:r>
              <a:rPr lang="en-US" sz="2800" b="1" dirty="0">
                <a:solidFill>
                  <a:srgbClr val="003366"/>
                </a:solidFill>
                <a:latin typeface="Georgia" pitchFamily="34" charset="0"/>
                <a:ea typeface="Georgia" pitchFamily="34" charset="-122"/>
                <a:cs typeface="Georgia" pitchFamily="34" charset="-120"/>
              </a:rPr>
              <a:t>Priya</a:t>
            </a:r>
            <a:endParaRPr lang="en-US" sz="2800" dirty="0"/>
          </a:p>
        </p:txBody>
      </p:sp>
      <p:sp>
        <p:nvSpPr>
          <p:cNvPr id="8" name="Text 6"/>
          <p:cNvSpPr/>
          <p:nvPr/>
        </p:nvSpPr>
        <p:spPr>
          <a:xfrm>
            <a:off x="914400" y="4023360"/>
            <a:ext cx="3291840" cy="365760"/>
          </a:xfrm>
          <a:prstGeom prst="rect">
            <a:avLst/>
          </a:prstGeom>
          <a:noFill/>
          <a:ln/>
        </p:spPr>
        <p:txBody>
          <a:bodyPr wrap="square" lIns="0" tIns="0" rIns="0" bIns="0" rtlCol="0" anchor="ctr"/>
          <a:lstStyle/>
          <a:p>
            <a:pPr marL="0" indent="0" algn="ctr">
              <a:buNone/>
            </a:pPr>
            <a:r>
              <a:rPr lang="en-US" sz="1400" i="1" dirty="0">
                <a:solidFill>
                  <a:srgbClr val="4A5568"/>
                </a:solidFill>
                <a:latin typeface="Calibri" pitchFamily="34" charset="0"/>
                <a:ea typeface="Calibri" pitchFamily="34" charset="-122"/>
                <a:cs typeface="Calibri" pitchFamily="34" charset="-120"/>
              </a:rPr>
              <a:t>Grade 12  ·  Tech-curious</a:t>
            </a:r>
            <a:endParaRPr lang="en-US" sz="1400" dirty="0"/>
          </a:p>
        </p:txBody>
      </p:sp>
      <p:sp>
        <p:nvSpPr>
          <p:cNvPr id="9" name="Text 7"/>
          <p:cNvSpPr/>
          <p:nvPr/>
        </p:nvSpPr>
        <p:spPr>
          <a:xfrm>
            <a:off x="914400" y="4754880"/>
            <a:ext cx="3291840" cy="1097280"/>
          </a:xfrm>
          <a:prstGeom prst="rect">
            <a:avLst/>
          </a:prstGeom>
          <a:noFill/>
          <a:ln/>
        </p:spPr>
        <p:txBody>
          <a:bodyPr wrap="square" lIns="0" tIns="0" rIns="0" bIns="0" rtlCol="0" anchor="ctr"/>
          <a:lstStyle/>
          <a:p>
            <a:pPr marL="0" indent="0" algn="ctr">
              <a:buNone/>
            </a:pPr>
            <a:r>
              <a:rPr lang="en-US" sz="1400" dirty="0">
                <a:solidFill>
                  <a:srgbClr val="1A1A1A"/>
                </a:solidFill>
                <a:latin typeface="Calibri" pitchFamily="34" charset="0"/>
                <a:ea typeface="Calibri" pitchFamily="34" charset="-122"/>
                <a:cs typeface="Calibri" pitchFamily="34" charset="-120"/>
              </a:rPr>
              <a:t>Senior. Loves tech, anxious about coding.</a:t>
            </a:r>
            <a:endParaRPr lang="en-US" sz="1400" dirty="0"/>
          </a:p>
        </p:txBody>
      </p:sp>
      <p:sp>
        <p:nvSpPr>
          <p:cNvPr id="10" name="Text 8"/>
          <p:cNvSpPr/>
          <p:nvPr/>
        </p:nvSpPr>
        <p:spPr>
          <a:xfrm>
            <a:off x="4846320" y="1188720"/>
            <a:ext cx="914400" cy="1097280"/>
          </a:xfrm>
          <a:prstGeom prst="rect">
            <a:avLst/>
          </a:prstGeom>
          <a:noFill/>
          <a:ln/>
        </p:spPr>
        <p:txBody>
          <a:bodyPr wrap="square" lIns="0" tIns="0" rIns="0" bIns="0" rtlCol="0" anchor="ctr"/>
          <a:lstStyle/>
          <a:p>
            <a:pPr marL="0" indent="0">
              <a:buNone/>
            </a:pPr>
            <a:r>
              <a:rPr lang="en-US" sz="11000" b="1" dirty="0">
                <a:solidFill>
                  <a:srgbClr val="FFB81C"/>
                </a:solidFill>
                <a:latin typeface="Georgia" pitchFamily="34" charset="0"/>
                <a:ea typeface="Georgia" pitchFamily="34" charset="-122"/>
                <a:cs typeface="Georgia" pitchFamily="34" charset="-120"/>
              </a:rPr>
              <a:t>“</a:t>
            </a:r>
            <a:endParaRPr lang="en-US" sz="11000" dirty="0"/>
          </a:p>
        </p:txBody>
      </p:sp>
      <p:sp>
        <p:nvSpPr>
          <p:cNvPr id="11" name="Text 9"/>
          <p:cNvSpPr/>
          <p:nvPr/>
        </p:nvSpPr>
        <p:spPr>
          <a:xfrm>
            <a:off x="4846320" y="2011680"/>
            <a:ext cx="6675120" cy="3200400"/>
          </a:xfrm>
          <a:prstGeom prst="rect">
            <a:avLst/>
          </a:prstGeom>
          <a:noFill/>
          <a:ln/>
        </p:spPr>
        <p:txBody>
          <a:bodyPr wrap="square" lIns="0" tIns="0" rIns="0" bIns="0" rtlCol="0" anchor="ctr"/>
          <a:lstStyle/>
          <a:p>
            <a:pPr marL="0" indent="0">
              <a:buNone/>
            </a:pPr>
            <a:r>
              <a:rPr lang="en-US" sz="2800" i="1" dirty="0">
                <a:solidFill>
                  <a:srgbClr val="1A1A1A"/>
                </a:solidFill>
                <a:latin typeface="Georgia" pitchFamily="34" charset="0"/>
                <a:ea typeface="Georgia" pitchFamily="34" charset="-122"/>
                <a:cs typeface="Georgia" pitchFamily="34" charset="-120"/>
              </a:rPr>
              <a:t>I love technology, but I'm not a programmer. I think I'm out of the AI conversation.</a:t>
            </a:r>
            <a:endParaRPr lang="en-US" sz="2800" dirty="0"/>
          </a:p>
        </p:txBody>
      </p:sp>
      <p:sp>
        <p:nvSpPr>
          <p:cNvPr id="12" name="Shape 10"/>
          <p:cNvSpPr/>
          <p:nvPr/>
        </p:nvSpPr>
        <p:spPr>
          <a:xfrm>
            <a:off x="4846320" y="5440680"/>
            <a:ext cx="6675120" cy="731520"/>
          </a:xfrm>
          <a:prstGeom prst="rect">
            <a:avLst/>
          </a:prstGeom>
          <a:solidFill>
            <a:srgbClr val="003366"/>
          </a:solidFill>
          <a:ln/>
        </p:spPr>
        <p:txBody>
          <a:bodyPr/>
          <a:lstStyle/>
          <a:p>
            <a:endParaRPr lang="en-US"/>
          </a:p>
        </p:txBody>
      </p:sp>
      <p:sp>
        <p:nvSpPr>
          <p:cNvPr id="13" name="Text 11"/>
          <p:cNvSpPr/>
          <p:nvPr/>
        </p:nvSpPr>
        <p:spPr>
          <a:xfrm>
            <a:off x="5029200" y="5440680"/>
            <a:ext cx="6400800" cy="73152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How would you advise this student?</a:t>
            </a:r>
            <a:endParaRPr lang="en-US" sz="1800" dirty="0"/>
          </a:p>
        </p:txBody>
      </p:sp>
      <p:sp>
        <p:nvSpPr>
          <p:cNvPr id="14" name="Text 12"/>
          <p:cNvSpPr/>
          <p:nvPr/>
        </p:nvSpPr>
        <p:spPr>
          <a:xfrm>
            <a:off x="457200" y="6492240"/>
            <a:ext cx="7315200" cy="274320"/>
          </a:xfrm>
          <a:prstGeom prst="rect">
            <a:avLst/>
          </a:prstGeom>
          <a:noFill/>
          <a:ln/>
        </p:spPr>
        <p:txBody>
          <a:bodyPr wrap="square" lIns="0" tIns="0" rIns="0" bIns="0" rtlCol="0" anchor="ctr"/>
          <a:lstStyle/>
          <a:p>
            <a:pPr marL="0" indent="0" algn="l">
              <a:buNone/>
            </a:pPr>
            <a:r>
              <a:rPr lang="en-US" sz="900" dirty="0">
                <a:solidFill>
                  <a:srgbClr val="4A5568"/>
                </a:solidFill>
                <a:latin typeface="Calibri" pitchFamily="34" charset="0"/>
                <a:ea typeface="Calibri" pitchFamily="34" charset="-122"/>
                <a:cs typeface="Calibri" pitchFamily="34" charset="-120"/>
              </a:rPr>
              <a:t>LARC K–16 Counselor Summit  ·  Vincent Calip, LBCC</a:t>
            </a:r>
            <a:endParaRPr lang="en-US" sz="900" dirty="0"/>
          </a:p>
        </p:txBody>
      </p:sp>
      <p:sp>
        <p:nvSpPr>
          <p:cNvPr id="15" name="Text 13"/>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12 / 16</a:t>
            </a:r>
            <a:endParaRPr lang="en-US" sz="9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40080"/>
            <a:ext cx="10972800" cy="365760"/>
          </a:xfrm>
          <a:prstGeom prst="rect">
            <a:avLst/>
          </a:prstGeom>
          <a:noFill/>
          <a:ln/>
        </p:spPr>
        <p:txBody>
          <a:bodyPr wrap="square" lIns="0" tIns="0" rIns="0" bIns="0" rtlCol="0" anchor="ctr"/>
          <a:lstStyle/>
          <a:p>
            <a:pPr marL="0" indent="0">
              <a:buNone/>
            </a:pPr>
            <a:r>
              <a:rPr lang="en-US" sz="1100" b="1" kern="0" spc="400" dirty="0">
                <a:solidFill>
                  <a:srgbClr val="FFB81C"/>
                </a:solidFill>
                <a:latin typeface="Calibri" pitchFamily="34" charset="0"/>
                <a:ea typeface="Calibri" pitchFamily="34" charset="-122"/>
                <a:cs typeface="Calibri" pitchFamily="34" charset="-120"/>
              </a:rPr>
              <a:t>THE COUNSELOR'S TOOLKIT</a:t>
            </a:r>
            <a:endParaRPr lang="en-US" sz="1100" dirty="0"/>
          </a:p>
        </p:txBody>
      </p:sp>
      <p:sp>
        <p:nvSpPr>
          <p:cNvPr id="3" name="Text 1"/>
          <p:cNvSpPr/>
          <p:nvPr/>
        </p:nvSpPr>
        <p:spPr>
          <a:xfrm>
            <a:off x="640080" y="1097280"/>
            <a:ext cx="10972800" cy="822960"/>
          </a:xfrm>
          <a:prstGeom prst="rect">
            <a:avLst/>
          </a:prstGeom>
          <a:noFill/>
          <a:ln/>
        </p:spPr>
        <p:txBody>
          <a:bodyPr wrap="square" lIns="0" tIns="0" rIns="0" bIns="0" rtlCol="0" anchor="ctr"/>
          <a:lstStyle/>
          <a:p>
            <a:pPr marL="0" indent="0">
              <a:buNone/>
            </a:pPr>
            <a:r>
              <a:rPr lang="en-US" sz="3600" b="1" dirty="0">
                <a:solidFill>
                  <a:srgbClr val="1A1A1A"/>
                </a:solidFill>
                <a:latin typeface="Georgia" pitchFamily="34" charset="0"/>
                <a:ea typeface="Georgia" pitchFamily="34" charset="-122"/>
                <a:cs typeface="Georgia" pitchFamily="34" charset="-120"/>
              </a:rPr>
              <a:t>Six questions for any advising conversation.</a:t>
            </a:r>
            <a:endParaRPr lang="en-US" sz="3600" dirty="0"/>
          </a:p>
        </p:txBody>
      </p:sp>
      <p:sp>
        <p:nvSpPr>
          <p:cNvPr id="4" name="Shape 2"/>
          <p:cNvSpPr/>
          <p:nvPr/>
        </p:nvSpPr>
        <p:spPr>
          <a:xfrm>
            <a:off x="640080" y="2240280"/>
            <a:ext cx="548640" cy="1234440"/>
          </a:xfrm>
          <a:prstGeom prst="rect">
            <a:avLst/>
          </a:prstGeom>
          <a:solidFill>
            <a:srgbClr val="003366"/>
          </a:solidFill>
          <a:ln/>
        </p:spPr>
        <p:txBody>
          <a:bodyPr/>
          <a:lstStyle/>
          <a:p>
            <a:endParaRPr lang="en-US"/>
          </a:p>
        </p:txBody>
      </p:sp>
      <p:sp>
        <p:nvSpPr>
          <p:cNvPr id="5" name="Text 3"/>
          <p:cNvSpPr/>
          <p:nvPr/>
        </p:nvSpPr>
        <p:spPr>
          <a:xfrm>
            <a:off x="640080" y="2240280"/>
            <a:ext cx="548640" cy="1234440"/>
          </a:xfrm>
          <a:prstGeom prst="rect">
            <a:avLst/>
          </a:prstGeom>
          <a:noFill/>
          <a:ln/>
        </p:spPr>
        <p:txBody>
          <a:bodyPr wrap="square" lIns="0" tIns="0" rIns="0" bIns="0" rtlCol="0" anchor="ctr"/>
          <a:lstStyle/>
          <a:p>
            <a:pPr marL="0" indent="0" algn="ctr">
              <a:buNone/>
            </a:pPr>
            <a:r>
              <a:rPr lang="en-US" sz="1800" b="1" dirty="0">
                <a:solidFill>
                  <a:srgbClr val="FFB81C"/>
                </a:solidFill>
                <a:latin typeface="Georgia" pitchFamily="34" charset="0"/>
                <a:ea typeface="Georgia" pitchFamily="34" charset="-122"/>
                <a:cs typeface="Georgia" pitchFamily="34" charset="-120"/>
              </a:rPr>
              <a:t>01</a:t>
            </a:r>
            <a:endParaRPr lang="en-US" sz="1800" dirty="0"/>
          </a:p>
        </p:txBody>
      </p:sp>
      <p:sp>
        <p:nvSpPr>
          <p:cNvPr id="6" name="Shape 4"/>
          <p:cNvSpPr/>
          <p:nvPr/>
        </p:nvSpPr>
        <p:spPr>
          <a:xfrm>
            <a:off x="1188720" y="2240280"/>
            <a:ext cx="4983480" cy="1234440"/>
          </a:xfrm>
          <a:prstGeom prst="rect">
            <a:avLst/>
          </a:prstGeom>
          <a:solidFill>
            <a:srgbClr val="FAF7F0"/>
          </a:solidFill>
          <a:ln/>
        </p:spPr>
        <p:txBody>
          <a:bodyPr/>
          <a:lstStyle/>
          <a:p>
            <a:endParaRPr lang="en-US"/>
          </a:p>
        </p:txBody>
      </p:sp>
      <p:sp>
        <p:nvSpPr>
          <p:cNvPr id="7" name="Text 5"/>
          <p:cNvSpPr/>
          <p:nvPr/>
        </p:nvSpPr>
        <p:spPr>
          <a:xfrm>
            <a:off x="1417320" y="2240280"/>
            <a:ext cx="4663440" cy="1234440"/>
          </a:xfrm>
          <a:prstGeom prst="rect">
            <a:avLst/>
          </a:prstGeom>
          <a:noFill/>
          <a:ln/>
        </p:spPr>
        <p:txBody>
          <a:bodyPr wrap="square" lIns="0" tIns="0" rIns="0" bIns="0" rtlCol="0" anchor="ctr"/>
          <a:lstStyle/>
          <a:p>
            <a:pPr marL="0" indent="0">
              <a:buNone/>
            </a:pPr>
            <a:r>
              <a:rPr lang="en-US" sz="1350" i="1" dirty="0">
                <a:solidFill>
                  <a:srgbClr val="1A1A1A"/>
                </a:solidFill>
                <a:latin typeface="Calibri" pitchFamily="34" charset="0"/>
                <a:ea typeface="Calibri" pitchFamily="34" charset="-122"/>
                <a:cs typeface="Calibri" pitchFamily="34" charset="-120"/>
              </a:rPr>
              <a:t>"How might AI show up in the career field you're considering?"</a:t>
            </a:r>
            <a:endParaRPr lang="en-US" sz="1350" dirty="0"/>
          </a:p>
        </p:txBody>
      </p:sp>
      <p:sp>
        <p:nvSpPr>
          <p:cNvPr id="8" name="Shape 6"/>
          <p:cNvSpPr/>
          <p:nvPr/>
        </p:nvSpPr>
        <p:spPr>
          <a:xfrm>
            <a:off x="6355080" y="2240280"/>
            <a:ext cx="548640" cy="1234440"/>
          </a:xfrm>
          <a:prstGeom prst="rect">
            <a:avLst/>
          </a:prstGeom>
          <a:solidFill>
            <a:srgbClr val="003366"/>
          </a:solidFill>
          <a:ln/>
        </p:spPr>
        <p:txBody>
          <a:bodyPr/>
          <a:lstStyle/>
          <a:p>
            <a:endParaRPr lang="en-US"/>
          </a:p>
        </p:txBody>
      </p:sp>
      <p:sp>
        <p:nvSpPr>
          <p:cNvPr id="9" name="Text 7"/>
          <p:cNvSpPr/>
          <p:nvPr/>
        </p:nvSpPr>
        <p:spPr>
          <a:xfrm>
            <a:off x="6355080" y="2240280"/>
            <a:ext cx="548640" cy="1234440"/>
          </a:xfrm>
          <a:prstGeom prst="rect">
            <a:avLst/>
          </a:prstGeom>
          <a:noFill/>
          <a:ln/>
        </p:spPr>
        <p:txBody>
          <a:bodyPr wrap="square" lIns="0" tIns="0" rIns="0" bIns="0" rtlCol="0" anchor="ctr"/>
          <a:lstStyle/>
          <a:p>
            <a:pPr marL="0" indent="0" algn="ctr">
              <a:buNone/>
            </a:pPr>
            <a:r>
              <a:rPr lang="en-US" sz="1800" b="1" dirty="0">
                <a:solidFill>
                  <a:srgbClr val="FFB81C"/>
                </a:solidFill>
                <a:latin typeface="Georgia" pitchFamily="34" charset="0"/>
                <a:ea typeface="Georgia" pitchFamily="34" charset="-122"/>
                <a:cs typeface="Georgia" pitchFamily="34" charset="-120"/>
              </a:rPr>
              <a:t>02</a:t>
            </a:r>
            <a:endParaRPr lang="en-US" sz="1800" dirty="0"/>
          </a:p>
        </p:txBody>
      </p:sp>
      <p:sp>
        <p:nvSpPr>
          <p:cNvPr id="10" name="Shape 8"/>
          <p:cNvSpPr/>
          <p:nvPr/>
        </p:nvSpPr>
        <p:spPr>
          <a:xfrm>
            <a:off x="6903720" y="2240280"/>
            <a:ext cx="4983480" cy="1234440"/>
          </a:xfrm>
          <a:prstGeom prst="rect">
            <a:avLst/>
          </a:prstGeom>
          <a:solidFill>
            <a:srgbClr val="FAF7F0"/>
          </a:solidFill>
          <a:ln/>
        </p:spPr>
        <p:txBody>
          <a:bodyPr/>
          <a:lstStyle/>
          <a:p>
            <a:endParaRPr lang="en-US"/>
          </a:p>
        </p:txBody>
      </p:sp>
      <p:sp>
        <p:nvSpPr>
          <p:cNvPr id="11" name="Text 9"/>
          <p:cNvSpPr/>
          <p:nvPr/>
        </p:nvSpPr>
        <p:spPr>
          <a:xfrm>
            <a:off x="7132320" y="2240280"/>
            <a:ext cx="4663440" cy="1234440"/>
          </a:xfrm>
          <a:prstGeom prst="rect">
            <a:avLst/>
          </a:prstGeom>
          <a:noFill/>
          <a:ln/>
        </p:spPr>
        <p:txBody>
          <a:bodyPr wrap="square" lIns="0" tIns="0" rIns="0" bIns="0" rtlCol="0" anchor="ctr"/>
          <a:lstStyle/>
          <a:p>
            <a:pPr marL="0" indent="0">
              <a:buNone/>
            </a:pPr>
            <a:r>
              <a:rPr lang="en-US" sz="1350" i="1" dirty="0">
                <a:solidFill>
                  <a:srgbClr val="1A1A1A"/>
                </a:solidFill>
                <a:latin typeface="Calibri" pitchFamily="34" charset="0"/>
                <a:ea typeface="Calibri" pitchFamily="34" charset="-122"/>
                <a:cs typeface="Calibri" pitchFamily="34" charset="-120"/>
              </a:rPr>
              <a:t>"What tasks in that work might be supported by AI? Which still need human judgment?"</a:t>
            </a:r>
            <a:endParaRPr lang="en-US" sz="1350" dirty="0"/>
          </a:p>
        </p:txBody>
      </p:sp>
      <p:sp>
        <p:nvSpPr>
          <p:cNvPr id="12" name="Shape 10"/>
          <p:cNvSpPr/>
          <p:nvPr/>
        </p:nvSpPr>
        <p:spPr>
          <a:xfrm>
            <a:off x="640080" y="3611880"/>
            <a:ext cx="548640" cy="1234440"/>
          </a:xfrm>
          <a:prstGeom prst="rect">
            <a:avLst/>
          </a:prstGeom>
          <a:solidFill>
            <a:srgbClr val="003366"/>
          </a:solidFill>
          <a:ln/>
        </p:spPr>
        <p:txBody>
          <a:bodyPr/>
          <a:lstStyle/>
          <a:p>
            <a:endParaRPr lang="en-US"/>
          </a:p>
        </p:txBody>
      </p:sp>
      <p:sp>
        <p:nvSpPr>
          <p:cNvPr id="13" name="Text 11"/>
          <p:cNvSpPr/>
          <p:nvPr/>
        </p:nvSpPr>
        <p:spPr>
          <a:xfrm>
            <a:off x="640080" y="3611880"/>
            <a:ext cx="548640" cy="1234440"/>
          </a:xfrm>
          <a:prstGeom prst="rect">
            <a:avLst/>
          </a:prstGeom>
          <a:noFill/>
          <a:ln/>
        </p:spPr>
        <p:txBody>
          <a:bodyPr wrap="square" lIns="0" tIns="0" rIns="0" bIns="0" rtlCol="0" anchor="ctr"/>
          <a:lstStyle/>
          <a:p>
            <a:pPr marL="0" indent="0" algn="ctr">
              <a:buNone/>
            </a:pPr>
            <a:r>
              <a:rPr lang="en-US" sz="1800" b="1" dirty="0">
                <a:solidFill>
                  <a:srgbClr val="FFB81C"/>
                </a:solidFill>
                <a:latin typeface="Georgia" pitchFamily="34" charset="0"/>
                <a:ea typeface="Georgia" pitchFamily="34" charset="-122"/>
                <a:cs typeface="Georgia" pitchFamily="34" charset="-120"/>
              </a:rPr>
              <a:t>03</a:t>
            </a:r>
            <a:endParaRPr lang="en-US" sz="1800" dirty="0"/>
          </a:p>
        </p:txBody>
      </p:sp>
      <p:sp>
        <p:nvSpPr>
          <p:cNvPr id="14" name="Shape 12"/>
          <p:cNvSpPr/>
          <p:nvPr/>
        </p:nvSpPr>
        <p:spPr>
          <a:xfrm>
            <a:off x="1188720" y="3611880"/>
            <a:ext cx="4983480" cy="1234440"/>
          </a:xfrm>
          <a:prstGeom prst="rect">
            <a:avLst/>
          </a:prstGeom>
          <a:solidFill>
            <a:srgbClr val="FAF7F0"/>
          </a:solidFill>
          <a:ln/>
        </p:spPr>
        <p:txBody>
          <a:bodyPr/>
          <a:lstStyle/>
          <a:p>
            <a:endParaRPr lang="en-US"/>
          </a:p>
        </p:txBody>
      </p:sp>
      <p:sp>
        <p:nvSpPr>
          <p:cNvPr id="15" name="Text 13"/>
          <p:cNvSpPr/>
          <p:nvPr/>
        </p:nvSpPr>
        <p:spPr>
          <a:xfrm>
            <a:off x="1417320" y="3611880"/>
            <a:ext cx="4663440" cy="1234440"/>
          </a:xfrm>
          <a:prstGeom prst="rect">
            <a:avLst/>
          </a:prstGeom>
          <a:noFill/>
          <a:ln/>
        </p:spPr>
        <p:txBody>
          <a:bodyPr wrap="square" lIns="0" tIns="0" rIns="0" bIns="0" rtlCol="0" anchor="ctr"/>
          <a:lstStyle/>
          <a:p>
            <a:pPr marL="0" indent="0">
              <a:buNone/>
            </a:pPr>
            <a:r>
              <a:rPr lang="en-US" sz="1350" i="1" dirty="0">
                <a:solidFill>
                  <a:srgbClr val="1A1A1A"/>
                </a:solidFill>
                <a:latin typeface="Calibri" pitchFamily="34" charset="0"/>
                <a:ea typeface="Calibri" pitchFamily="34" charset="-122"/>
                <a:cs typeface="Calibri" pitchFamily="34" charset="-120"/>
              </a:rPr>
              <a:t>"What human skills will still matter — communication, ethics, judgment, creativity?"</a:t>
            </a:r>
            <a:endParaRPr lang="en-US" sz="1350" dirty="0"/>
          </a:p>
        </p:txBody>
      </p:sp>
      <p:sp>
        <p:nvSpPr>
          <p:cNvPr id="16" name="Shape 14"/>
          <p:cNvSpPr/>
          <p:nvPr/>
        </p:nvSpPr>
        <p:spPr>
          <a:xfrm>
            <a:off x="6355080" y="3611880"/>
            <a:ext cx="548640" cy="1234440"/>
          </a:xfrm>
          <a:prstGeom prst="rect">
            <a:avLst/>
          </a:prstGeom>
          <a:solidFill>
            <a:srgbClr val="003366"/>
          </a:solidFill>
          <a:ln/>
        </p:spPr>
        <p:txBody>
          <a:bodyPr/>
          <a:lstStyle/>
          <a:p>
            <a:endParaRPr lang="en-US"/>
          </a:p>
        </p:txBody>
      </p:sp>
      <p:sp>
        <p:nvSpPr>
          <p:cNvPr id="17" name="Text 15"/>
          <p:cNvSpPr/>
          <p:nvPr/>
        </p:nvSpPr>
        <p:spPr>
          <a:xfrm>
            <a:off x="6355080" y="3611880"/>
            <a:ext cx="548640" cy="1234440"/>
          </a:xfrm>
          <a:prstGeom prst="rect">
            <a:avLst/>
          </a:prstGeom>
          <a:noFill/>
          <a:ln/>
        </p:spPr>
        <p:txBody>
          <a:bodyPr wrap="square" lIns="0" tIns="0" rIns="0" bIns="0" rtlCol="0" anchor="ctr"/>
          <a:lstStyle/>
          <a:p>
            <a:pPr marL="0" indent="0" algn="ctr">
              <a:buNone/>
            </a:pPr>
            <a:r>
              <a:rPr lang="en-US" sz="1800" b="1" dirty="0">
                <a:solidFill>
                  <a:srgbClr val="FFB81C"/>
                </a:solidFill>
                <a:latin typeface="Georgia" pitchFamily="34" charset="0"/>
                <a:ea typeface="Georgia" pitchFamily="34" charset="-122"/>
                <a:cs typeface="Georgia" pitchFamily="34" charset="-120"/>
              </a:rPr>
              <a:t>04</a:t>
            </a:r>
            <a:endParaRPr lang="en-US" sz="1800" dirty="0"/>
          </a:p>
        </p:txBody>
      </p:sp>
      <p:sp>
        <p:nvSpPr>
          <p:cNvPr id="18" name="Shape 16"/>
          <p:cNvSpPr/>
          <p:nvPr/>
        </p:nvSpPr>
        <p:spPr>
          <a:xfrm>
            <a:off x="6903720" y="3611880"/>
            <a:ext cx="4983480" cy="1234440"/>
          </a:xfrm>
          <a:prstGeom prst="rect">
            <a:avLst/>
          </a:prstGeom>
          <a:solidFill>
            <a:srgbClr val="FAF7F0"/>
          </a:solidFill>
          <a:ln/>
        </p:spPr>
        <p:txBody>
          <a:bodyPr/>
          <a:lstStyle/>
          <a:p>
            <a:endParaRPr lang="en-US"/>
          </a:p>
        </p:txBody>
      </p:sp>
      <p:sp>
        <p:nvSpPr>
          <p:cNvPr id="19" name="Text 17"/>
          <p:cNvSpPr/>
          <p:nvPr/>
        </p:nvSpPr>
        <p:spPr>
          <a:xfrm>
            <a:off x="7132320" y="3611880"/>
            <a:ext cx="4663440" cy="1234440"/>
          </a:xfrm>
          <a:prstGeom prst="rect">
            <a:avLst/>
          </a:prstGeom>
          <a:noFill/>
          <a:ln/>
        </p:spPr>
        <p:txBody>
          <a:bodyPr wrap="square" lIns="0" tIns="0" rIns="0" bIns="0" rtlCol="0" anchor="ctr"/>
          <a:lstStyle/>
          <a:p>
            <a:pPr marL="0" indent="0">
              <a:buNone/>
            </a:pPr>
            <a:r>
              <a:rPr lang="en-US" sz="1350" i="1" dirty="0">
                <a:solidFill>
                  <a:srgbClr val="1A1A1A"/>
                </a:solidFill>
                <a:latin typeface="Calibri" pitchFamily="34" charset="0"/>
                <a:ea typeface="Calibri" pitchFamily="34" charset="-122"/>
                <a:cs typeface="Calibri" pitchFamily="34" charset="-120"/>
              </a:rPr>
              <a:t>"What's one piece of evidence — a project, certificate, or course — you could build this year?"</a:t>
            </a:r>
            <a:endParaRPr lang="en-US" sz="1350" dirty="0"/>
          </a:p>
        </p:txBody>
      </p:sp>
      <p:sp>
        <p:nvSpPr>
          <p:cNvPr id="20" name="Shape 18"/>
          <p:cNvSpPr/>
          <p:nvPr/>
        </p:nvSpPr>
        <p:spPr>
          <a:xfrm>
            <a:off x="640080" y="4983480"/>
            <a:ext cx="548640" cy="1234440"/>
          </a:xfrm>
          <a:prstGeom prst="rect">
            <a:avLst/>
          </a:prstGeom>
          <a:solidFill>
            <a:srgbClr val="003366"/>
          </a:solidFill>
          <a:ln/>
        </p:spPr>
        <p:txBody>
          <a:bodyPr/>
          <a:lstStyle/>
          <a:p>
            <a:endParaRPr lang="en-US"/>
          </a:p>
        </p:txBody>
      </p:sp>
      <p:sp>
        <p:nvSpPr>
          <p:cNvPr id="21" name="Text 19"/>
          <p:cNvSpPr/>
          <p:nvPr/>
        </p:nvSpPr>
        <p:spPr>
          <a:xfrm>
            <a:off x="640080" y="4983480"/>
            <a:ext cx="548640" cy="1234440"/>
          </a:xfrm>
          <a:prstGeom prst="rect">
            <a:avLst/>
          </a:prstGeom>
          <a:noFill/>
          <a:ln/>
        </p:spPr>
        <p:txBody>
          <a:bodyPr wrap="square" lIns="0" tIns="0" rIns="0" bIns="0" rtlCol="0" anchor="ctr"/>
          <a:lstStyle/>
          <a:p>
            <a:pPr marL="0" indent="0" algn="ctr">
              <a:buNone/>
            </a:pPr>
            <a:r>
              <a:rPr lang="en-US" sz="1800" b="1" dirty="0">
                <a:solidFill>
                  <a:srgbClr val="FFB81C"/>
                </a:solidFill>
                <a:latin typeface="Georgia" pitchFamily="34" charset="0"/>
                <a:ea typeface="Georgia" pitchFamily="34" charset="-122"/>
                <a:cs typeface="Georgia" pitchFamily="34" charset="-120"/>
              </a:rPr>
              <a:t>05</a:t>
            </a:r>
            <a:endParaRPr lang="en-US" sz="1800" dirty="0"/>
          </a:p>
        </p:txBody>
      </p:sp>
      <p:sp>
        <p:nvSpPr>
          <p:cNvPr id="22" name="Shape 20"/>
          <p:cNvSpPr/>
          <p:nvPr/>
        </p:nvSpPr>
        <p:spPr>
          <a:xfrm>
            <a:off x="1188720" y="4983480"/>
            <a:ext cx="4983480" cy="1234440"/>
          </a:xfrm>
          <a:prstGeom prst="rect">
            <a:avLst/>
          </a:prstGeom>
          <a:solidFill>
            <a:srgbClr val="FAF7F0"/>
          </a:solidFill>
          <a:ln/>
        </p:spPr>
        <p:txBody>
          <a:bodyPr/>
          <a:lstStyle/>
          <a:p>
            <a:endParaRPr lang="en-US"/>
          </a:p>
        </p:txBody>
      </p:sp>
      <p:sp>
        <p:nvSpPr>
          <p:cNvPr id="23" name="Text 21"/>
          <p:cNvSpPr/>
          <p:nvPr/>
        </p:nvSpPr>
        <p:spPr>
          <a:xfrm>
            <a:off x="1417320" y="4983480"/>
            <a:ext cx="4663440" cy="1234440"/>
          </a:xfrm>
          <a:prstGeom prst="rect">
            <a:avLst/>
          </a:prstGeom>
          <a:noFill/>
          <a:ln/>
        </p:spPr>
        <p:txBody>
          <a:bodyPr wrap="square" lIns="0" tIns="0" rIns="0" bIns="0" rtlCol="0" anchor="ctr"/>
          <a:lstStyle/>
          <a:p>
            <a:pPr marL="0" indent="0">
              <a:buNone/>
            </a:pPr>
            <a:r>
              <a:rPr lang="en-US" sz="1350" i="1" dirty="0">
                <a:solidFill>
                  <a:srgbClr val="1A1A1A"/>
                </a:solidFill>
                <a:latin typeface="Calibri" pitchFamily="34" charset="0"/>
                <a:ea typeface="Calibri" pitchFamily="34" charset="-122"/>
                <a:cs typeface="Calibri" pitchFamily="34" charset="-120"/>
              </a:rPr>
              <a:t>"What's one dual-enrollment, CTE, or college course that could move you forward right now?"</a:t>
            </a:r>
            <a:endParaRPr lang="en-US" sz="1350" dirty="0"/>
          </a:p>
        </p:txBody>
      </p:sp>
      <p:sp>
        <p:nvSpPr>
          <p:cNvPr id="24" name="Shape 22"/>
          <p:cNvSpPr/>
          <p:nvPr/>
        </p:nvSpPr>
        <p:spPr>
          <a:xfrm>
            <a:off x="6355080" y="4983480"/>
            <a:ext cx="548640" cy="1234440"/>
          </a:xfrm>
          <a:prstGeom prst="rect">
            <a:avLst/>
          </a:prstGeom>
          <a:solidFill>
            <a:srgbClr val="003366"/>
          </a:solidFill>
          <a:ln/>
        </p:spPr>
        <p:txBody>
          <a:bodyPr/>
          <a:lstStyle/>
          <a:p>
            <a:endParaRPr lang="en-US"/>
          </a:p>
        </p:txBody>
      </p:sp>
      <p:sp>
        <p:nvSpPr>
          <p:cNvPr id="25" name="Text 23"/>
          <p:cNvSpPr/>
          <p:nvPr/>
        </p:nvSpPr>
        <p:spPr>
          <a:xfrm>
            <a:off x="6355080" y="4983480"/>
            <a:ext cx="548640" cy="1234440"/>
          </a:xfrm>
          <a:prstGeom prst="rect">
            <a:avLst/>
          </a:prstGeom>
          <a:noFill/>
          <a:ln/>
        </p:spPr>
        <p:txBody>
          <a:bodyPr wrap="square" lIns="0" tIns="0" rIns="0" bIns="0" rtlCol="0" anchor="ctr"/>
          <a:lstStyle/>
          <a:p>
            <a:pPr marL="0" indent="0" algn="ctr">
              <a:buNone/>
            </a:pPr>
            <a:r>
              <a:rPr lang="en-US" sz="1800" b="1" dirty="0">
                <a:solidFill>
                  <a:srgbClr val="FFB81C"/>
                </a:solidFill>
                <a:latin typeface="Georgia" pitchFamily="34" charset="0"/>
                <a:ea typeface="Georgia" pitchFamily="34" charset="-122"/>
                <a:cs typeface="Georgia" pitchFamily="34" charset="-120"/>
              </a:rPr>
              <a:t>06</a:t>
            </a:r>
            <a:endParaRPr lang="en-US" sz="1800" dirty="0"/>
          </a:p>
        </p:txBody>
      </p:sp>
      <p:sp>
        <p:nvSpPr>
          <p:cNvPr id="26" name="Shape 24"/>
          <p:cNvSpPr/>
          <p:nvPr/>
        </p:nvSpPr>
        <p:spPr>
          <a:xfrm>
            <a:off x="6903720" y="4983480"/>
            <a:ext cx="4983480" cy="1234440"/>
          </a:xfrm>
          <a:prstGeom prst="rect">
            <a:avLst/>
          </a:prstGeom>
          <a:solidFill>
            <a:srgbClr val="FAF7F0"/>
          </a:solidFill>
          <a:ln/>
        </p:spPr>
        <p:txBody>
          <a:bodyPr/>
          <a:lstStyle/>
          <a:p>
            <a:endParaRPr lang="en-US"/>
          </a:p>
        </p:txBody>
      </p:sp>
      <p:sp>
        <p:nvSpPr>
          <p:cNvPr id="27" name="Text 25"/>
          <p:cNvSpPr/>
          <p:nvPr/>
        </p:nvSpPr>
        <p:spPr>
          <a:xfrm>
            <a:off x="7132320" y="4983480"/>
            <a:ext cx="4663440" cy="1234440"/>
          </a:xfrm>
          <a:prstGeom prst="rect">
            <a:avLst/>
          </a:prstGeom>
          <a:noFill/>
          <a:ln/>
        </p:spPr>
        <p:txBody>
          <a:bodyPr wrap="square" lIns="0" tIns="0" rIns="0" bIns="0" rtlCol="0" anchor="ctr"/>
          <a:lstStyle/>
          <a:p>
            <a:pPr marL="0" indent="0">
              <a:buNone/>
            </a:pPr>
            <a:r>
              <a:rPr lang="en-US" sz="1350" i="1" dirty="0">
                <a:solidFill>
                  <a:srgbClr val="1A1A1A"/>
                </a:solidFill>
                <a:latin typeface="Calibri" pitchFamily="34" charset="0"/>
                <a:ea typeface="Calibri" pitchFamily="34" charset="-122"/>
                <a:cs typeface="Calibri" pitchFamily="34" charset="-120"/>
              </a:rPr>
              <a:t>"How can you use AI responsibly while still doing your own thinking?"</a:t>
            </a:r>
            <a:endParaRPr lang="en-US" sz="1350" dirty="0"/>
          </a:p>
        </p:txBody>
      </p:sp>
      <p:sp>
        <p:nvSpPr>
          <p:cNvPr id="28" name="Text 26"/>
          <p:cNvSpPr/>
          <p:nvPr/>
        </p:nvSpPr>
        <p:spPr>
          <a:xfrm>
            <a:off x="457200" y="6492240"/>
            <a:ext cx="7315200" cy="274320"/>
          </a:xfrm>
          <a:prstGeom prst="rect">
            <a:avLst/>
          </a:prstGeom>
          <a:noFill/>
          <a:ln/>
        </p:spPr>
        <p:txBody>
          <a:bodyPr wrap="square" lIns="0" tIns="0" rIns="0" bIns="0" rtlCol="0" anchor="ctr"/>
          <a:lstStyle/>
          <a:p>
            <a:pPr marL="0" indent="0" algn="l">
              <a:buNone/>
            </a:pPr>
            <a:r>
              <a:rPr lang="en-US" sz="900" dirty="0">
                <a:solidFill>
                  <a:srgbClr val="4A5568"/>
                </a:solidFill>
                <a:latin typeface="Calibri" pitchFamily="34" charset="0"/>
                <a:ea typeface="Calibri" pitchFamily="34" charset="-122"/>
                <a:cs typeface="Calibri" pitchFamily="34" charset="-120"/>
              </a:rPr>
              <a:t>LARC K–16 Counselor Summit  ·  Vincent Calip, LBCC</a:t>
            </a:r>
            <a:endParaRPr lang="en-US" sz="900" dirty="0"/>
          </a:p>
        </p:txBody>
      </p:sp>
      <p:sp>
        <p:nvSpPr>
          <p:cNvPr id="29" name="Text 27"/>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13 / 16</a:t>
            </a:r>
            <a:endParaRPr lang="en-US" sz="9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40080"/>
            <a:ext cx="10972800" cy="365760"/>
          </a:xfrm>
          <a:prstGeom prst="rect">
            <a:avLst/>
          </a:prstGeom>
          <a:noFill/>
          <a:ln/>
        </p:spPr>
        <p:txBody>
          <a:bodyPr wrap="square" lIns="0" tIns="0" rIns="0" bIns="0" rtlCol="0" anchor="ctr"/>
          <a:lstStyle/>
          <a:p>
            <a:pPr marL="0" indent="0">
              <a:buNone/>
            </a:pPr>
            <a:r>
              <a:rPr lang="en-US" sz="1100" b="1" kern="0" spc="400" dirty="0">
                <a:solidFill>
                  <a:srgbClr val="FFB81C"/>
                </a:solidFill>
                <a:latin typeface="Calibri" pitchFamily="34" charset="0"/>
                <a:ea typeface="Calibri" pitchFamily="34" charset="-122"/>
                <a:cs typeface="Calibri" pitchFamily="34" charset="-120"/>
              </a:rPr>
              <a:t>PATHWAY ANCHORS</a:t>
            </a:r>
            <a:endParaRPr lang="en-US" sz="1100" dirty="0"/>
          </a:p>
        </p:txBody>
      </p:sp>
      <p:sp>
        <p:nvSpPr>
          <p:cNvPr id="3" name="Text 1"/>
          <p:cNvSpPr/>
          <p:nvPr/>
        </p:nvSpPr>
        <p:spPr>
          <a:xfrm>
            <a:off x="640080" y="1097280"/>
            <a:ext cx="10972800" cy="822960"/>
          </a:xfrm>
          <a:prstGeom prst="rect">
            <a:avLst/>
          </a:prstGeom>
          <a:noFill/>
          <a:ln/>
        </p:spPr>
        <p:txBody>
          <a:bodyPr wrap="square" lIns="0" tIns="0" rIns="0" bIns="0" rtlCol="0" anchor="ctr"/>
          <a:lstStyle/>
          <a:p>
            <a:pPr marL="0" indent="0">
              <a:buNone/>
            </a:pPr>
            <a:r>
              <a:rPr lang="en-US" sz="3600" b="1" dirty="0">
                <a:solidFill>
                  <a:srgbClr val="1A1A1A"/>
                </a:solidFill>
                <a:latin typeface="Georgia" pitchFamily="34" charset="0"/>
                <a:ea typeface="Georgia" pitchFamily="34" charset="-122"/>
                <a:cs typeface="Georgia" pitchFamily="34" charset="-120"/>
              </a:rPr>
              <a:t>Where to send students next.</a:t>
            </a:r>
            <a:endParaRPr lang="en-US" sz="3600" dirty="0"/>
          </a:p>
        </p:txBody>
      </p:sp>
      <p:sp>
        <p:nvSpPr>
          <p:cNvPr id="4" name="Shape 2"/>
          <p:cNvSpPr/>
          <p:nvPr/>
        </p:nvSpPr>
        <p:spPr>
          <a:xfrm>
            <a:off x="640080" y="2286000"/>
            <a:ext cx="5532120" cy="3840480"/>
          </a:xfrm>
          <a:prstGeom prst="rect">
            <a:avLst/>
          </a:prstGeom>
          <a:solidFill>
            <a:srgbClr val="FAF7F0"/>
          </a:solidFill>
          <a:ln/>
        </p:spPr>
        <p:txBody>
          <a:bodyPr/>
          <a:lstStyle/>
          <a:p>
            <a:endParaRPr lang="en-US"/>
          </a:p>
        </p:txBody>
      </p:sp>
      <p:sp>
        <p:nvSpPr>
          <p:cNvPr id="5" name="Shape 3"/>
          <p:cNvSpPr/>
          <p:nvPr/>
        </p:nvSpPr>
        <p:spPr>
          <a:xfrm>
            <a:off x="640080" y="2286000"/>
            <a:ext cx="73152" cy="3840480"/>
          </a:xfrm>
          <a:prstGeom prst="rect">
            <a:avLst/>
          </a:prstGeom>
          <a:solidFill>
            <a:srgbClr val="FFB81C"/>
          </a:solidFill>
          <a:ln/>
        </p:spPr>
        <p:txBody>
          <a:bodyPr/>
          <a:lstStyle/>
          <a:p>
            <a:endParaRPr lang="en-US"/>
          </a:p>
        </p:txBody>
      </p:sp>
      <p:sp>
        <p:nvSpPr>
          <p:cNvPr id="6" name="Text 4"/>
          <p:cNvSpPr/>
          <p:nvPr/>
        </p:nvSpPr>
        <p:spPr>
          <a:xfrm>
            <a:off x="1005840" y="2560320"/>
            <a:ext cx="4983480" cy="457200"/>
          </a:xfrm>
          <a:prstGeom prst="rect">
            <a:avLst/>
          </a:prstGeom>
          <a:noFill/>
          <a:ln/>
        </p:spPr>
        <p:txBody>
          <a:bodyPr wrap="square" lIns="0" tIns="0" rIns="0" bIns="0" rtlCol="0" anchor="ctr"/>
          <a:lstStyle/>
          <a:p>
            <a:pPr marL="0" indent="0">
              <a:buNone/>
            </a:pPr>
            <a:r>
              <a:rPr lang="en-US" sz="2200" b="1" dirty="0">
                <a:solidFill>
                  <a:srgbClr val="003366"/>
                </a:solidFill>
                <a:latin typeface="Georgia" pitchFamily="34" charset="0"/>
                <a:ea typeface="Georgia" pitchFamily="34" charset="-122"/>
                <a:cs typeface="Georgia" pitchFamily="34" charset="-120"/>
              </a:rPr>
              <a:t>PATHWAY TYPES</a:t>
            </a:r>
            <a:endParaRPr lang="en-US" sz="2200" dirty="0"/>
          </a:p>
        </p:txBody>
      </p:sp>
      <p:sp>
        <p:nvSpPr>
          <p:cNvPr id="7" name="Text 5"/>
          <p:cNvSpPr/>
          <p:nvPr/>
        </p:nvSpPr>
        <p:spPr>
          <a:xfrm>
            <a:off x="1005840" y="3063240"/>
            <a:ext cx="4983480" cy="365760"/>
          </a:xfrm>
          <a:prstGeom prst="rect">
            <a:avLst/>
          </a:prstGeom>
          <a:noFill/>
          <a:ln/>
        </p:spPr>
        <p:txBody>
          <a:bodyPr wrap="square" lIns="0" tIns="0" rIns="0" bIns="0" rtlCol="0" anchor="ctr"/>
          <a:lstStyle/>
          <a:p>
            <a:pPr marL="0" indent="0">
              <a:buNone/>
            </a:pPr>
            <a:r>
              <a:rPr lang="en-US" sz="1200" i="1" dirty="0">
                <a:solidFill>
                  <a:srgbClr val="4A5568"/>
                </a:solidFill>
                <a:latin typeface="Calibri" pitchFamily="34" charset="0"/>
                <a:ea typeface="Calibri" pitchFamily="34" charset="-122"/>
                <a:cs typeface="Calibri" pitchFamily="34" charset="-120"/>
              </a:rPr>
              <a:t>Categories every counselor should know.</a:t>
            </a:r>
            <a:endParaRPr lang="en-US" sz="1200" dirty="0"/>
          </a:p>
        </p:txBody>
      </p:sp>
      <p:sp>
        <p:nvSpPr>
          <p:cNvPr id="8" name="Text 6"/>
          <p:cNvSpPr/>
          <p:nvPr/>
        </p:nvSpPr>
        <p:spPr>
          <a:xfrm>
            <a:off x="1005840" y="3566160"/>
            <a:ext cx="4983480" cy="2377440"/>
          </a:xfrm>
          <a:prstGeom prst="rect">
            <a:avLst/>
          </a:prstGeom>
          <a:noFill/>
          <a:ln/>
        </p:spPr>
        <p:txBody>
          <a:bodyPr wrap="square" rtlCol="0" anchor="ctr"/>
          <a:lstStyle/>
          <a:p>
            <a:pPr marL="342900" indent="-3429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Dual enrollment + CCAP partnerships</a:t>
            </a:r>
            <a:endParaRPr lang="en-US" sz="1400" dirty="0"/>
          </a:p>
          <a:p>
            <a:pPr marL="342900" indent="-3429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College Promise programs (varies by district)</a:t>
            </a:r>
            <a:endParaRPr lang="en-US" sz="1400" dirty="0"/>
          </a:p>
          <a:p>
            <a:pPr marL="342900" indent="-3429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Strong Workforce CTE pathways</a:t>
            </a:r>
            <a:endParaRPr lang="en-US" sz="1400" dirty="0"/>
          </a:p>
          <a:p>
            <a:pPr marL="342900" indent="-3429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Industry-aligned certificates</a:t>
            </a:r>
            <a:endParaRPr lang="en-US" sz="1400" dirty="0"/>
          </a:p>
          <a:p>
            <a:pPr marL="342900" indent="-3429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Internships and work-based learning</a:t>
            </a:r>
            <a:endParaRPr lang="en-US" sz="1400" dirty="0"/>
          </a:p>
        </p:txBody>
      </p:sp>
      <p:sp>
        <p:nvSpPr>
          <p:cNvPr id="9" name="Shape 7"/>
          <p:cNvSpPr/>
          <p:nvPr/>
        </p:nvSpPr>
        <p:spPr>
          <a:xfrm>
            <a:off x="6355080" y="2286000"/>
            <a:ext cx="5532120" cy="3840480"/>
          </a:xfrm>
          <a:prstGeom prst="rect">
            <a:avLst/>
          </a:prstGeom>
          <a:solidFill>
            <a:srgbClr val="003366"/>
          </a:solidFill>
          <a:ln/>
        </p:spPr>
        <p:txBody>
          <a:bodyPr/>
          <a:lstStyle/>
          <a:p>
            <a:endParaRPr lang="en-US"/>
          </a:p>
        </p:txBody>
      </p:sp>
      <p:sp>
        <p:nvSpPr>
          <p:cNvPr id="10" name="Text 8"/>
          <p:cNvSpPr/>
          <p:nvPr/>
        </p:nvSpPr>
        <p:spPr>
          <a:xfrm>
            <a:off x="6720840" y="2560320"/>
            <a:ext cx="4983480" cy="457200"/>
          </a:xfrm>
          <a:prstGeom prst="rect">
            <a:avLst/>
          </a:prstGeom>
          <a:noFill/>
          <a:ln/>
        </p:spPr>
        <p:txBody>
          <a:bodyPr wrap="square" lIns="0" tIns="0" rIns="0" bIns="0" rtlCol="0" anchor="ctr"/>
          <a:lstStyle/>
          <a:p>
            <a:pPr marL="0" indent="0">
              <a:buNone/>
            </a:pPr>
            <a:r>
              <a:rPr lang="en-US" sz="2200" b="1" dirty="0">
                <a:solidFill>
                  <a:srgbClr val="FFB81C"/>
                </a:solidFill>
                <a:latin typeface="Georgia" pitchFamily="34" charset="0"/>
                <a:ea typeface="Georgia" pitchFamily="34" charset="-122"/>
                <a:cs typeface="Georgia" pitchFamily="34" charset="-120"/>
              </a:rPr>
              <a:t>WHAT THE DATA SHOWS</a:t>
            </a:r>
            <a:endParaRPr lang="en-US" sz="2200" dirty="0"/>
          </a:p>
        </p:txBody>
      </p:sp>
      <p:sp>
        <p:nvSpPr>
          <p:cNvPr id="11" name="Text 9"/>
          <p:cNvSpPr/>
          <p:nvPr/>
        </p:nvSpPr>
        <p:spPr>
          <a:xfrm>
            <a:off x="6720840" y="3063240"/>
            <a:ext cx="4983480" cy="365760"/>
          </a:xfrm>
          <a:prstGeom prst="rect">
            <a:avLst/>
          </a:prstGeom>
          <a:noFill/>
          <a:ln/>
        </p:spPr>
        <p:txBody>
          <a:bodyPr wrap="square" lIns="0" tIns="0" rIns="0" bIns="0" rtlCol="0" anchor="ctr"/>
          <a:lstStyle/>
          <a:p>
            <a:pPr marL="0" indent="0">
              <a:buNone/>
            </a:pPr>
            <a:r>
              <a:rPr lang="en-US" sz="1200" i="1" dirty="0">
                <a:solidFill>
                  <a:srgbClr val="C8D4E2"/>
                </a:solidFill>
                <a:latin typeface="Calibri" pitchFamily="34" charset="0"/>
                <a:ea typeface="Calibri" pitchFamily="34" charset="-122"/>
                <a:cs typeface="Calibri" pitchFamily="34" charset="-120"/>
              </a:rPr>
              <a:t>Statewide outcomes that hold up.</a:t>
            </a:r>
            <a:endParaRPr lang="en-US" sz="1200" dirty="0"/>
          </a:p>
        </p:txBody>
      </p:sp>
      <p:sp>
        <p:nvSpPr>
          <p:cNvPr id="12" name="Text 10"/>
          <p:cNvSpPr/>
          <p:nvPr/>
        </p:nvSpPr>
        <p:spPr>
          <a:xfrm>
            <a:off x="6720840" y="3566160"/>
            <a:ext cx="4983480" cy="2377440"/>
          </a:xfrm>
          <a:prstGeom prst="rect">
            <a:avLst/>
          </a:prstGeom>
          <a:noFill/>
          <a:ln/>
        </p:spPr>
        <p:txBody>
          <a:bodyPr wrap="square" rtlCol="0" anchor="ctr"/>
          <a:lstStyle/>
          <a:p>
            <a:pPr marL="342900" indent="-342900">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165,000 California dual enrollees; LA/OC = 29% of state</a:t>
            </a:r>
            <a:endParaRPr lang="en-US" sz="1400" dirty="0"/>
          </a:p>
          <a:p>
            <a:pPr marL="342900" indent="-342900">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Strong Workforce: 74% job placement, 47% living wage</a:t>
            </a:r>
            <a:endParaRPr lang="en-US" sz="1400" dirty="0"/>
          </a:p>
          <a:p>
            <a:pPr marL="342900" indent="-342900">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2.2M students across the CCC system</a:t>
            </a:r>
            <a:endParaRPr lang="en-US" sz="1400" dirty="0"/>
          </a:p>
          <a:p>
            <a:pPr marL="342900" indent="-342900">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BLS: data scientists +34%, cybersecurity +29% (2024–34)</a:t>
            </a:r>
            <a:endParaRPr lang="en-US" sz="1400" dirty="0"/>
          </a:p>
        </p:txBody>
      </p:sp>
      <p:sp>
        <p:nvSpPr>
          <p:cNvPr id="13" name="Text 11"/>
          <p:cNvSpPr/>
          <p:nvPr/>
        </p:nvSpPr>
        <p:spPr>
          <a:xfrm>
            <a:off x="457200" y="6492240"/>
            <a:ext cx="7315200" cy="274320"/>
          </a:xfrm>
          <a:prstGeom prst="rect">
            <a:avLst/>
          </a:prstGeom>
          <a:noFill/>
          <a:ln/>
        </p:spPr>
        <p:txBody>
          <a:bodyPr wrap="square" lIns="0" tIns="0" rIns="0" bIns="0" rtlCol="0" anchor="ctr"/>
          <a:lstStyle/>
          <a:p>
            <a:pPr marL="0" indent="0" algn="l">
              <a:buNone/>
            </a:pPr>
            <a:r>
              <a:rPr lang="en-US" sz="900" dirty="0">
                <a:solidFill>
                  <a:srgbClr val="4A5568"/>
                </a:solidFill>
                <a:latin typeface="Calibri" pitchFamily="34" charset="0"/>
                <a:ea typeface="Calibri" pitchFamily="34" charset="-122"/>
                <a:cs typeface="Calibri" pitchFamily="34" charset="-120"/>
              </a:rPr>
              <a:t>LARC K–16 Counselor Summit  ·  Vincent Calip, LBCC</a:t>
            </a:r>
            <a:endParaRPr lang="en-US" sz="900" dirty="0"/>
          </a:p>
        </p:txBody>
      </p:sp>
      <p:sp>
        <p:nvSpPr>
          <p:cNvPr id="14" name="Text 12"/>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14 / 16</a:t>
            </a:r>
            <a:endParaRPr lang="en-US" sz="9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3366"/>
        </a:solidFill>
        <a:effectLst/>
      </p:bgPr>
    </p:bg>
    <p:spTree>
      <p:nvGrpSpPr>
        <p:cNvPr id="1" name=""/>
        <p:cNvGrpSpPr/>
        <p:nvPr/>
      </p:nvGrpSpPr>
      <p:grpSpPr>
        <a:xfrm>
          <a:off x="0" y="0"/>
          <a:ext cx="0" cy="0"/>
          <a:chOff x="0" y="0"/>
          <a:chExt cx="0" cy="0"/>
        </a:xfrm>
      </p:grpSpPr>
      <p:sp>
        <p:nvSpPr>
          <p:cNvPr id="2" name="Text 0"/>
          <p:cNvSpPr/>
          <p:nvPr/>
        </p:nvSpPr>
        <p:spPr>
          <a:xfrm>
            <a:off x="640080" y="640080"/>
            <a:ext cx="10972800" cy="365760"/>
          </a:xfrm>
          <a:prstGeom prst="rect">
            <a:avLst/>
          </a:prstGeom>
          <a:noFill/>
          <a:ln/>
        </p:spPr>
        <p:txBody>
          <a:bodyPr wrap="square" lIns="0" tIns="0" rIns="0" bIns="0" rtlCol="0" anchor="ctr"/>
          <a:lstStyle/>
          <a:p>
            <a:pPr marL="0" indent="0">
              <a:buNone/>
            </a:pPr>
            <a:r>
              <a:rPr lang="en-US" sz="1100" b="1" kern="0" spc="400" dirty="0">
                <a:solidFill>
                  <a:srgbClr val="FFB81C"/>
                </a:solidFill>
                <a:latin typeface="Calibri" pitchFamily="34" charset="0"/>
                <a:ea typeface="Calibri" pitchFamily="34" charset="-122"/>
                <a:cs typeface="Calibri" pitchFamily="34" charset="-120"/>
              </a:rPr>
              <a:t>BEFORE YOU LEAVE</a:t>
            </a:r>
            <a:endParaRPr lang="en-US" sz="1100" dirty="0"/>
          </a:p>
        </p:txBody>
      </p:sp>
      <p:sp>
        <p:nvSpPr>
          <p:cNvPr id="3" name="Text 1"/>
          <p:cNvSpPr/>
          <p:nvPr/>
        </p:nvSpPr>
        <p:spPr>
          <a:xfrm>
            <a:off x="640080" y="1280160"/>
            <a:ext cx="10972800" cy="914400"/>
          </a:xfrm>
          <a:prstGeom prst="rect">
            <a:avLst/>
          </a:prstGeom>
          <a:noFill/>
          <a:ln/>
        </p:spPr>
        <p:txBody>
          <a:bodyPr wrap="square" lIns="0" tIns="0" rIns="0" bIns="0" rtlCol="0" anchor="ctr"/>
          <a:lstStyle/>
          <a:p>
            <a:pPr marL="0" indent="0">
              <a:buNone/>
            </a:pPr>
            <a:r>
              <a:rPr lang="en-US" sz="5600" b="1" dirty="0">
                <a:solidFill>
                  <a:srgbClr val="FFFFFF"/>
                </a:solidFill>
                <a:latin typeface="Georgia" pitchFamily="34" charset="0"/>
                <a:ea typeface="Georgia" pitchFamily="34" charset="-122"/>
                <a:cs typeface="Georgia" pitchFamily="34" charset="-120"/>
              </a:rPr>
              <a:t>Pick one thing.</a:t>
            </a:r>
            <a:endParaRPr lang="en-US" sz="5600" dirty="0"/>
          </a:p>
        </p:txBody>
      </p:sp>
      <p:sp>
        <p:nvSpPr>
          <p:cNvPr id="4" name="Text 2"/>
          <p:cNvSpPr/>
          <p:nvPr/>
        </p:nvSpPr>
        <p:spPr>
          <a:xfrm>
            <a:off x="640080" y="2286000"/>
            <a:ext cx="10972800" cy="640080"/>
          </a:xfrm>
          <a:prstGeom prst="rect">
            <a:avLst/>
          </a:prstGeom>
          <a:noFill/>
          <a:ln/>
        </p:spPr>
        <p:txBody>
          <a:bodyPr wrap="square" lIns="0" tIns="0" rIns="0" bIns="0" rtlCol="0" anchor="ctr"/>
          <a:lstStyle/>
          <a:p>
            <a:pPr marL="0" indent="0">
              <a:buNone/>
            </a:pPr>
            <a:r>
              <a:rPr lang="en-US" sz="2000" i="1" dirty="0">
                <a:solidFill>
                  <a:srgbClr val="C8D4E2"/>
                </a:solidFill>
                <a:latin typeface="Calibri" pitchFamily="34" charset="0"/>
                <a:ea typeface="Calibri" pitchFamily="34" charset="-122"/>
                <a:cs typeface="Calibri" pitchFamily="34" charset="-120"/>
              </a:rPr>
              <a:t>One advising question. One phrase. One resource. Try it with a student in the next two weeks.</a:t>
            </a:r>
            <a:endParaRPr lang="en-US" sz="2000" dirty="0"/>
          </a:p>
        </p:txBody>
      </p:sp>
      <p:sp>
        <p:nvSpPr>
          <p:cNvPr id="5" name="Shape 3"/>
          <p:cNvSpPr/>
          <p:nvPr/>
        </p:nvSpPr>
        <p:spPr>
          <a:xfrm>
            <a:off x="640080" y="3291840"/>
            <a:ext cx="1371600" cy="73152"/>
          </a:xfrm>
          <a:prstGeom prst="rect">
            <a:avLst/>
          </a:prstGeom>
          <a:solidFill>
            <a:srgbClr val="FFB81C"/>
          </a:solidFill>
          <a:ln/>
        </p:spPr>
        <p:txBody>
          <a:bodyPr/>
          <a:lstStyle/>
          <a:p>
            <a:endParaRPr lang="en-US"/>
          </a:p>
        </p:txBody>
      </p:sp>
      <p:sp>
        <p:nvSpPr>
          <p:cNvPr id="6" name="Text 4"/>
          <p:cNvSpPr/>
          <p:nvPr/>
        </p:nvSpPr>
        <p:spPr>
          <a:xfrm>
            <a:off x="640080" y="3566160"/>
            <a:ext cx="10972800" cy="2194560"/>
          </a:xfrm>
          <a:prstGeom prst="rect">
            <a:avLst/>
          </a:prstGeom>
          <a:noFill/>
          <a:ln/>
        </p:spPr>
        <p:txBody>
          <a:bodyPr wrap="square" lIns="0" tIns="0" rIns="0" bIns="0" rtlCol="0" anchor="t"/>
          <a:lstStyle/>
          <a:p>
            <a:pPr marL="0" indent="0">
              <a:buNone/>
            </a:pPr>
            <a:r>
              <a:rPr lang="en-US" sz="2800" dirty="0">
                <a:solidFill>
                  <a:srgbClr val="FFFFFF"/>
                </a:solidFill>
                <a:latin typeface="Georgia" pitchFamily="34" charset="0"/>
                <a:ea typeface="Georgia" pitchFamily="34" charset="-122"/>
                <a:cs typeface="Georgia" pitchFamily="34" charset="-120"/>
              </a:rPr>
              <a:t>Students don't need to fear AI.</a:t>
            </a:r>
            <a:endParaRPr lang="en-US" sz="2800" dirty="0"/>
          </a:p>
          <a:p>
            <a:pPr marL="0" indent="0">
              <a:buNone/>
            </a:pPr>
            <a:r>
              <a:rPr lang="en-US" sz="2800" dirty="0">
                <a:solidFill>
                  <a:srgbClr val="FFFFFF"/>
                </a:solidFill>
                <a:latin typeface="Georgia" pitchFamily="34" charset="0"/>
                <a:ea typeface="Georgia" pitchFamily="34" charset="-122"/>
                <a:cs typeface="Georgia" pitchFamily="34" charset="-120"/>
              </a:rPr>
              <a:t>They need a counselor who helps them see the tasks,</a:t>
            </a:r>
            <a:endParaRPr lang="en-US" sz="2800" dirty="0"/>
          </a:p>
          <a:p>
            <a:pPr marL="0" indent="0">
              <a:buNone/>
            </a:pPr>
            <a:r>
              <a:rPr lang="en-US" sz="2800" dirty="0">
                <a:solidFill>
                  <a:srgbClr val="FFFFFF"/>
                </a:solidFill>
                <a:latin typeface="Georgia" pitchFamily="34" charset="0"/>
                <a:ea typeface="Georgia" pitchFamily="34" charset="-122"/>
                <a:cs typeface="Georgia" pitchFamily="34" charset="-120"/>
              </a:rPr>
              <a:t>build the skills, and earn the evidence.</a:t>
            </a:r>
            <a:endParaRPr lang="en-US" sz="2800" dirty="0"/>
          </a:p>
          <a:p>
            <a:pPr marL="0" indent="0">
              <a:buNone/>
            </a:pPr>
            <a:r>
              <a:rPr lang="en-US" sz="2800" b="1" i="1" dirty="0">
                <a:solidFill>
                  <a:srgbClr val="FFB81C"/>
                </a:solidFill>
                <a:latin typeface="Georgia" pitchFamily="34" charset="0"/>
                <a:ea typeface="Georgia" pitchFamily="34" charset="-122"/>
                <a:cs typeface="Georgia" pitchFamily="34" charset="-120"/>
              </a:rPr>
              <a:t>That's you.</a:t>
            </a:r>
            <a:endParaRPr lang="en-US" sz="2800" dirty="0"/>
          </a:p>
        </p:txBody>
      </p:sp>
      <p:sp>
        <p:nvSpPr>
          <p:cNvPr id="7" name="Shape 5"/>
          <p:cNvSpPr/>
          <p:nvPr/>
        </p:nvSpPr>
        <p:spPr>
          <a:xfrm>
            <a:off x="640080" y="6126480"/>
            <a:ext cx="10972800" cy="36576"/>
          </a:xfrm>
          <a:prstGeom prst="rect">
            <a:avLst/>
          </a:prstGeom>
          <a:solidFill>
            <a:srgbClr val="FFB81C">
              <a:alpha val="50000"/>
            </a:srgbClr>
          </a:solidFill>
          <a:ln/>
        </p:spPr>
        <p:txBody>
          <a:bodyPr/>
          <a:lstStyle/>
          <a:p>
            <a:endParaRPr lang="en-US"/>
          </a:p>
        </p:txBody>
      </p:sp>
      <p:sp>
        <p:nvSpPr>
          <p:cNvPr id="8" name="Text 6"/>
          <p:cNvSpPr/>
          <p:nvPr/>
        </p:nvSpPr>
        <p:spPr>
          <a:xfrm>
            <a:off x="640080" y="6263640"/>
            <a:ext cx="10972800" cy="274320"/>
          </a:xfrm>
          <a:prstGeom prst="rect">
            <a:avLst/>
          </a:prstGeom>
          <a:noFill/>
          <a:ln/>
        </p:spPr>
        <p:txBody>
          <a:bodyPr wrap="square" lIns="0" tIns="0" rIns="0" bIns="0" rtlCol="0" anchor="ctr"/>
          <a:lstStyle/>
          <a:p>
            <a:pPr marL="0" indent="0">
              <a:buNone/>
            </a:pPr>
            <a:r>
              <a:rPr lang="en-US" sz="1100" dirty="0">
                <a:solidFill>
                  <a:srgbClr val="C8D4E2"/>
                </a:solidFill>
                <a:latin typeface="Calibri" pitchFamily="34" charset="0"/>
                <a:ea typeface="Calibri" pitchFamily="34" charset="-122"/>
                <a:cs typeface="Calibri" pitchFamily="34" charset="-120"/>
              </a:rPr>
              <a:t>Vincent Calip  ·  vcalip@lbcc.edu  ·  Long Beach City College</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40080"/>
            <a:ext cx="10972800" cy="365760"/>
          </a:xfrm>
          <a:prstGeom prst="rect">
            <a:avLst/>
          </a:prstGeom>
          <a:noFill/>
          <a:ln/>
        </p:spPr>
        <p:txBody>
          <a:bodyPr wrap="square" lIns="0" tIns="0" rIns="0" bIns="0" rtlCol="0" anchor="ctr"/>
          <a:lstStyle/>
          <a:p>
            <a:pPr marL="0" indent="0">
              <a:buNone/>
            </a:pPr>
            <a:r>
              <a:rPr lang="en-US" sz="1100" b="1" kern="0" spc="400" dirty="0">
                <a:solidFill>
                  <a:srgbClr val="FFB81C"/>
                </a:solidFill>
                <a:latin typeface="Calibri" pitchFamily="34" charset="0"/>
                <a:ea typeface="Calibri" pitchFamily="34" charset="-122"/>
                <a:cs typeface="Calibri" pitchFamily="34" charset="-120"/>
              </a:rPr>
              <a:t>TASKS, NOT JUST JOBS  ·  LARC K–16 COUNSELOR SUMMIT</a:t>
            </a:r>
            <a:endParaRPr lang="en-US" sz="1100" dirty="0"/>
          </a:p>
        </p:txBody>
      </p:sp>
      <p:sp>
        <p:nvSpPr>
          <p:cNvPr id="3" name="Text 1"/>
          <p:cNvSpPr/>
          <p:nvPr/>
        </p:nvSpPr>
        <p:spPr>
          <a:xfrm>
            <a:off x="640080" y="1051560"/>
            <a:ext cx="10972800" cy="868680"/>
          </a:xfrm>
          <a:prstGeom prst="rect">
            <a:avLst/>
          </a:prstGeom>
          <a:noFill/>
          <a:ln/>
        </p:spPr>
        <p:txBody>
          <a:bodyPr wrap="square" lIns="0" tIns="0" rIns="0" bIns="0" rtlCol="0" anchor="ctr"/>
          <a:lstStyle/>
          <a:p>
            <a:pPr marL="0" indent="0">
              <a:buNone/>
            </a:pPr>
            <a:r>
              <a:rPr lang="en-US" sz="4400" b="1" dirty="0">
                <a:solidFill>
                  <a:srgbClr val="1A1A1A"/>
                </a:solidFill>
                <a:latin typeface="Georgia" pitchFamily="34" charset="0"/>
                <a:ea typeface="Georgia" pitchFamily="34" charset="-122"/>
                <a:cs typeface="Georgia" pitchFamily="34" charset="-120"/>
              </a:rPr>
              <a:t>Take this with you.</a:t>
            </a:r>
            <a:endParaRPr lang="en-US" sz="4400" dirty="0"/>
          </a:p>
        </p:txBody>
      </p:sp>
      <p:sp>
        <p:nvSpPr>
          <p:cNvPr id="4" name="Text 2"/>
          <p:cNvSpPr/>
          <p:nvPr/>
        </p:nvSpPr>
        <p:spPr>
          <a:xfrm>
            <a:off x="640080" y="1920240"/>
            <a:ext cx="10972800" cy="411480"/>
          </a:xfrm>
          <a:prstGeom prst="rect">
            <a:avLst/>
          </a:prstGeom>
          <a:noFill/>
          <a:ln/>
        </p:spPr>
        <p:txBody>
          <a:bodyPr wrap="square" lIns="0" tIns="0" rIns="0" bIns="0" rtlCol="0" anchor="ctr"/>
          <a:lstStyle/>
          <a:p>
            <a:pPr marL="0" indent="0">
              <a:buNone/>
            </a:pPr>
            <a:r>
              <a:rPr lang="en-US" sz="1600" i="1" dirty="0">
                <a:solidFill>
                  <a:srgbClr val="4A5568"/>
                </a:solidFill>
                <a:latin typeface="Calibri" pitchFamily="34" charset="0"/>
                <a:ea typeface="Calibri" pitchFamily="34" charset="-122"/>
                <a:cs typeface="Calibri" pitchFamily="34" charset="-120"/>
              </a:rPr>
              <a:t>Six questions to keep, my contact info, and the QR for the rest.</a:t>
            </a:r>
            <a:endParaRPr lang="en-US" sz="1600" dirty="0"/>
          </a:p>
        </p:txBody>
      </p:sp>
      <p:sp>
        <p:nvSpPr>
          <p:cNvPr id="5" name="Text 3"/>
          <p:cNvSpPr/>
          <p:nvPr/>
        </p:nvSpPr>
        <p:spPr>
          <a:xfrm>
            <a:off x="640080" y="2697480"/>
            <a:ext cx="685800" cy="566928"/>
          </a:xfrm>
          <a:prstGeom prst="rect">
            <a:avLst/>
          </a:prstGeom>
          <a:noFill/>
          <a:ln/>
        </p:spPr>
        <p:txBody>
          <a:bodyPr wrap="square" lIns="0" tIns="0" rIns="0" bIns="0" rtlCol="0" anchor="ctr"/>
          <a:lstStyle/>
          <a:p>
            <a:pPr marL="0" indent="0" algn="l">
              <a:buNone/>
            </a:pPr>
            <a:r>
              <a:rPr lang="en-US" sz="2600" b="1" dirty="0">
                <a:solidFill>
                  <a:srgbClr val="FFB81C"/>
                </a:solidFill>
                <a:latin typeface="Georgia" pitchFamily="34" charset="0"/>
                <a:ea typeface="Georgia" pitchFamily="34" charset="-122"/>
                <a:cs typeface="Georgia" pitchFamily="34" charset="-120"/>
              </a:rPr>
              <a:t>01</a:t>
            </a:r>
            <a:endParaRPr lang="en-US" sz="2600" dirty="0"/>
          </a:p>
        </p:txBody>
      </p:sp>
      <p:sp>
        <p:nvSpPr>
          <p:cNvPr id="6" name="Text 4"/>
          <p:cNvSpPr/>
          <p:nvPr/>
        </p:nvSpPr>
        <p:spPr>
          <a:xfrm>
            <a:off x="1371600" y="2697480"/>
            <a:ext cx="4343400" cy="566928"/>
          </a:xfrm>
          <a:prstGeom prst="rect">
            <a:avLst/>
          </a:prstGeom>
          <a:noFill/>
          <a:ln/>
        </p:spPr>
        <p:txBody>
          <a:bodyPr wrap="square" lIns="0" tIns="0" rIns="0" bIns="0" rtlCol="0" anchor="ctr"/>
          <a:lstStyle/>
          <a:p>
            <a:pPr marL="0" indent="0">
              <a:buNone/>
            </a:pPr>
            <a:r>
              <a:rPr lang="en-US" sz="1450" b="1" dirty="0">
                <a:solidFill>
                  <a:srgbClr val="003366"/>
                </a:solidFill>
                <a:latin typeface="Calibri" pitchFamily="34" charset="0"/>
                <a:ea typeface="Calibri" pitchFamily="34" charset="-122"/>
                <a:cs typeface="Calibri" pitchFamily="34" charset="-120"/>
              </a:rPr>
              <a:t>Where does AI show up in this field?</a:t>
            </a:r>
            <a:endParaRPr lang="en-US" sz="1450" dirty="0"/>
          </a:p>
        </p:txBody>
      </p:sp>
      <p:sp>
        <p:nvSpPr>
          <p:cNvPr id="7" name="Shape 5"/>
          <p:cNvSpPr/>
          <p:nvPr/>
        </p:nvSpPr>
        <p:spPr>
          <a:xfrm>
            <a:off x="640080" y="3246120"/>
            <a:ext cx="5120640" cy="10973"/>
          </a:xfrm>
          <a:prstGeom prst="rect">
            <a:avLst/>
          </a:prstGeom>
          <a:solidFill>
            <a:srgbClr val="FFB81C">
              <a:alpha val="35000"/>
            </a:srgbClr>
          </a:solidFill>
          <a:ln/>
        </p:spPr>
        <p:txBody>
          <a:bodyPr/>
          <a:lstStyle/>
          <a:p>
            <a:endParaRPr lang="en-US"/>
          </a:p>
        </p:txBody>
      </p:sp>
      <p:sp>
        <p:nvSpPr>
          <p:cNvPr id="8" name="Text 6"/>
          <p:cNvSpPr/>
          <p:nvPr/>
        </p:nvSpPr>
        <p:spPr>
          <a:xfrm>
            <a:off x="640080" y="3264408"/>
            <a:ext cx="685800" cy="566928"/>
          </a:xfrm>
          <a:prstGeom prst="rect">
            <a:avLst/>
          </a:prstGeom>
          <a:noFill/>
          <a:ln/>
        </p:spPr>
        <p:txBody>
          <a:bodyPr wrap="square" lIns="0" tIns="0" rIns="0" bIns="0" rtlCol="0" anchor="ctr"/>
          <a:lstStyle/>
          <a:p>
            <a:pPr marL="0" indent="0" algn="l">
              <a:buNone/>
            </a:pPr>
            <a:r>
              <a:rPr lang="en-US" sz="2600" b="1" dirty="0">
                <a:solidFill>
                  <a:srgbClr val="FFB81C"/>
                </a:solidFill>
                <a:latin typeface="Georgia" pitchFamily="34" charset="0"/>
                <a:ea typeface="Georgia" pitchFamily="34" charset="-122"/>
                <a:cs typeface="Georgia" pitchFamily="34" charset="-120"/>
              </a:rPr>
              <a:t>02</a:t>
            </a:r>
            <a:endParaRPr lang="en-US" sz="2600" dirty="0"/>
          </a:p>
        </p:txBody>
      </p:sp>
      <p:sp>
        <p:nvSpPr>
          <p:cNvPr id="9" name="Text 7"/>
          <p:cNvSpPr/>
          <p:nvPr/>
        </p:nvSpPr>
        <p:spPr>
          <a:xfrm>
            <a:off x="1371600" y="3264408"/>
            <a:ext cx="4343400" cy="566928"/>
          </a:xfrm>
          <a:prstGeom prst="rect">
            <a:avLst/>
          </a:prstGeom>
          <a:noFill/>
          <a:ln/>
        </p:spPr>
        <p:txBody>
          <a:bodyPr wrap="square" lIns="0" tIns="0" rIns="0" bIns="0" rtlCol="0" anchor="ctr"/>
          <a:lstStyle/>
          <a:p>
            <a:pPr marL="0" indent="0">
              <a:buNone/>
            </a:pPr>
            <a:r>
              <a:rPr lang="en-US" sz="1450" b="1" dirty="0">
                <a:solidFill>
                  <a:srgbClr val="003366"/>
                </a:solidFill>
                <a:latin typeface="Calibri" pitchFamily="34" charset="0"/>
                <a:ea typeface="Calibri" pitchFamily="34" charset="-122"/>
                <a:cs typeface="Calibri" pitchFamily="34" charset="-120"/>
              </a:rPr>
              <a:t>Which tasks shift? Which need human judgment?</a:t>
            </a:r>
            <a:endParaRPr lang="en-US" sz="1450" dirty="0"/>
          </a:p>
        </p:txBody>
      </p:sp>
      <p:sp>
        <p:nvSpPr>
          <p:cNvPr id="10" name="Shape 8"/>
          <p:cNvSpPr/>
          <p:nvPr/>
        </p:nvSpPr>
        <p:spPr>
          <a:xfrm>
            <a:off x="640080" y="3813048"/>
            <a:ext cx="5120640" cy="10973"/>
          </a:xfrm>
          <a:prstGeom prst="rect">
            <a:avLst/>
          </a:prstGeom>
          <a:solidFill>
            <a:srgbClr val="FFB81C">
              <a:alpha val="35000"/>
            </a:srgbClr>
          </a:solidFill>
          <a:ln/>
        </p:spPr>
        <p:txBody>
          <a:bodyPr/>
          <a:lstStyle/>
          <a:p>
            <a:endParaRPr lang="en-US"/>
          </a:p>
        </p:txBody>
      </p:sp>
      <p:sp>
        <p:nvSpPr>
          <p:cNvPr id="11" name="Text 9"/>
          <p:cNvSpPr/>
          <p:nvPr/>
        </p:nvSpPr>
        <p:spPr>
          <a:xfrm>
            <a:off x="640080" y="3831336"/>
            <a:ext cx="685800" cy="566928"/>
          </a:xfrm>
          <a:prstGeom prst="rect">
            <a:avLst/>
          </a:prstGeom>
          <a:noFill/>
          <a:ln/>
        </p:spPr>
        <p:txBody>
          <a:bodyPr wrap="square" lIns="0" tIns="0" rIns="0" bIns="0" rtlCol="0" anchor="ctr"/>
          <a:lstStyle/>
          <a:p>
            <a:pPr marL="0" indent="0" algn="l">
              <a:buNone/>
            </a:pPr>
            <a:r>
              <a:rPr lang="en-US" sz="2600" b="1" dirty="0">
                <a:solidFill>
                  <a:srgbClr val="FFB81C"/>
                </a:solidFill>
                <a:latin typeface="Georgia" pitchFamily="34" charset="0"/>
                <a:ea typeface="Georgia" pitchFamily="34" charset="-122"/>
                <a:cs typeface="Georgia" pitchFamily="34" charset="-120"/>
              </a:rPr>
              <a:t>03</a:t>
            </a:r>
            <a:endParaRPr lang="en-US" sz="2600" dirty="0"/>
          </a:p>
        </p:txBody>
      </p:sp>
      <p:sp>
        <p:nvSpPr>
          <p:cNvPr id="12" name="Text 10"/>
          <p:cNvSpPr/>
          <p:nvPr/>
        </p:nvSpPr>
        <p:spPr>
          <a:xfrm>
            <a:off x="1371600" y="3831336"/>
            <a:ext cx="4343400" cy="566928"/>
          </a:xfrm>
          <a:prstGeom prst="rect">
            <a:avLst/>
          </a:prstGeom>
          <a:noFill/>
          <a:ln/>
        </p:spPr>
        <p:txBody>
          <a:bodyPr wrap="square" lIns="0" tIns="0" rIns="0" bIns="0" rtlCol="0" anchor="ctr"/>
          <a:lstStyle/>
          <a:p>
            <a:pPr marL="0" indent="0">
              <a:buNone/>
            </a:pPr>
            <a:r>
              <a:rPr lang="en-US" sz="1450" b="1" dirty="0">
                <a:solidFill>
                  <a:srgbClr val="003366"/>
                </a:solidFill>
                <a:latin typeface="Calibri" pitchFamily="34" charset="0"/>
                <a:ea typeface="Calibri" pitchFamily="34" charset="-122"/>
                <a:cs typeface="Calibri" pitchFamily="34" charset="-120"/>
              </a:rPr>
              <a:t>What human skills still matter most?</a:t>
            </a:r>
            <a:endParaRPr lang="en-US" sz="1450" dirty="0"/>
          </a:p>
        </p:txBody>
      </p:sp>
      <p:sp>
        <p:nvSpPr>
          <p:cNvPr id="13" name="Shape 11"/>
          <p:cNvSpPr/>
          <p:nvPr/>
        </p:nvSpPr>
        <p:spPr>
          <a:xfrm>
            <a:off x="640080" y="4379976"/>
            <a:ext cx="5120640" cy="10973"/>
          </a:xfrm>
          <a:prstGeom prst="rect">
            <a:avLst/>
          </a:prstGeom>
          <a:solidFill>
            <a:srgbClr val="FFB81C">
              <a:alpha val="35000"/>
            </a:srgbClr>
          </a:solidFill>
          <a:ln/>
        </p:spPr>
        <p:txBody>
          <a:bodyPr/>
          <a:lstStyle/>
          <a:p>
            <a:endParaRPr lang="en-US"/>
          </a:p>
        </p:txBody>
      </p:sp>
      <p:sp>
        <p:nvSpPr>
          <p:cNvPr id="14" name="Text 12"/>
          <p:cNvSpPr/>
          <p:nvPr/>
        </p:nvSpPr>
        <p:spPr>
          <a:xfrm>
            <a:off x="640080" y="4398264"/>
            <a:ext cx="685800" cy="566928"/>
          </a:xfrm>
          <a:prstGeom prst="rect">
            <a:avLst/>
          </a:prstGeom>
          <a:noFill/>
          <a:ln/>
        </p:spPr>
        <p:txBody>
          <a:bodyPr wrap="square" lIns="0" tIns="0" rIns="0" bIns="0" rtlCol="0" anchor="ctr"/>
          <a:lstStyle/>
          <a:p>
            <a:pPr marL="0" indent="0" algn="l">
              <a:buNone/>
            </a:pPr>
            <a:r>
              <a:rPr lang="en-US" sz="2600" b="1" dirty="0">
                <a:solidFill>
                  <a:srgbClr val="FFB81C"/>
                </a:solidFill>
                <a:latin typeface="Georgia" pitchFamily="34" charset="0"/>
                <a:ea typeface="Georgia" pitchFamily="34" charset="-122"/>
                <a:cs typeface="Georgia" pitchFamily="34" charset="-120"/>
              </a:rPr>
              <a:t>04</a:t>
            </a:r>
            <a:endParaRPr lang="en-US" sz="2600" dirty="0"/>
          </a:p>
        </p:txBody>
      </p:sp>
      <p:sp>
        <p:nvSpPr>
          <p:cNvPr id="15" name="Text 13"/>
          <p:cNvSpPr/>
          <p:nvPr/>
        </p:nvSpPr>
        <p:spPr>
          <a:xfrm>
            <a:off x="1371600" y="4398264"/>
            <a:ext cx="4343400" cy="566928"/>
          </a:xfrm>
          <a:prstGeom prst="rect">
            <a:avLst/>
          </a:prstGeom>
          <a:noFill/>
          <a:ln/>
        </p:spPr>
        <p:txBody>
          <a:bodyPr wrap="square" lIns="0" tIns="0" rIns="0" bIns="0" rtlCol="0" anchor="ctr"/>
          <a:lstStyle/>
          <a:p>
            <a:pPr marL="0" indent="0">
              <a:buNone/>
            </a:pPr>
            <a:r>
              <a:rPr lang="en-US" sz="1450" b="1" dirty="0">
                <a:solidFill>
                  <a:srgbClr val="003366"/>
                </a:solidFill>
                <a:latin typeface="Calibri" pitchFamily="34" charset="0"/>
                <a:ea typeface="Calibri" pitchFamily="34" charset="-122"/>
                <a:cs typeface="Calibri" pitchFamily="34" charset="-120"/>
              </a:rPr>
              <a:t>What evidence can you build this year?</a:t>
            </a:r>
            <a:endParaRPr lang="en-US" sz="1450" dirty="0"/>
          </a:p>
        </p:txBody>
      </p:sp>
      <p:sp>
        <p:nvSpPr>
          <p:cNvPr id="16" name="Shape 14"/>
          <p:cNvSpPr/>
          <p:nvPr/>
        </p:nvSpPr>
        <p:spPr>
          <a:xfrm>
            <a:off x="640080" y="4946904"/>
            <a:ext cx="5120640" cy="10973"/>
          </a:xfrm>
          <a:prstGeom prst="rect">
            <a:avLst/>
          </a:prstGeom>
          <a:solidFill>
            <a:srgbClr val="FFB81C">
              <a:alpha val="35000"/>
            </a:srgbClr>
          </a:solidFill>
          <a:ln/>
        </p:spPr>
        <p:txBody>
          <a:bodyPr/>
          <a:lstStyle/>
          <a:p>
            <a:endParaRPr lang="en-US"/>
          </a:p>
        </p:txBody>
      </p:sp>
      <p:sp>
        <p:nvSpPr>
          <p:cNvPr id="17" name="Text 15"/>
          <p:cNvSpPr/>
          <p:nvPr/>
        </p:nvSpPr>
        <p:spPr>
          <a:xfrm>
            <a:off x="640080" y="4965192"/>
            <a:ext cx="685800" cy="566928"/>
          </a:xfrm>
          <a:prstGeom prst="rect">
            <a:avLst/>
          </a:prstGeom>
          <a:noFill/>
          <a:ln/>
        </p:spPr>
        <p:txBody>
          <a:bodyPr wrap="square" lIns="0" tIns="0" rIns="0" bIns="0" rtlCol="0" anchor="ctr"/>
          <a:lstStyle/>
          <a:p>
            <a:pPr marL="0" indent="0" algn="l">
              <a:buNone/>
            </a:pPr>
            <a:r>
              <a:rPr lang="en-US" sz="2600" b="1" dirty="0">
                <a:solidFill>
                  <a:srgbClr val="FFB81C"/>
                </a:solidFill>
                <a:latin typeface="Georgia" pitchFamily="34" charset="0"/>
                <a:ea typeface="Georgia" pitchFamily="34" charset="-122"/>
                <a:cs typeface="Georgia" pitchFamily="34" charset="-120"/>
              </a:rPr>
              <a:t>05</a:t>
            </a:r>
            <a:endParaRPr lang="en-US" sz="2600" dirty="0"/>
          </a:p>
        </p:txBody>
      </p:sp>
      <p:sp>
        <p:nvSpPr>
          <p:cNvPr id="18" name="Text 16"/>
          <p:cNvSpPr/>
          <p:nvPr/>
        </p:nvSpPr>
        <p:spPr>
          <a:xfrm>
            <a:off x="1371600" y="4965192"/>
            <a:ext cx="4343400" cy="566928"/>
          </a:xfrm>
          <a:prstGeom prst="rect">
            <a:avLst/>
          </a:prstGeom>
          <a:noFill/>
          <a:ln/>
        </p:spPr>
        <p:txBody>
          <a:bodyPr wrap="square" lIns="0" tIns="0" rIns="0" bIns="0" rtlCol="0" anchor="ctr"/>
          <a:lstStyle/>
          <a:p>
            <a:pPr marL="0" indent="0">
              <a:buNone/>
            </a:pPr>
            <a:r>
              <a:rPr lang="en-US" sz="1450" b="1" dirty="0">
                <a:solidFill>
                  <a:srgbClr val="003366"/>
                </a:solidFill>
                <a:latin typeface="Calibri" pitchFamily="34" charset="0"/>
                <a:ea typeface="Calibri" pitchFamily="34" charset="-122"/>
                <a:cs typeface="Calibri" pitchFamily="34" charset="-120"/>
              </a:rPr>
              <a:t>What pathway moves you forward now?</a:t>
            </a:r>
            <a:endParaRPr lang="en-US" sz="1450" dirty="0"/>
          </a:p>
        </p:txBody>
      </p:sp>
      <p:sp>
        <p:nvSpPr>
          <p:cNvPr id="19" name="Shape 17"/>
          <p:cNvSpPr/>
          <p:nvPr/>
        </p:nvSpPr>
        <p:spPr>
          <a:xfrm>
            <a:off x="640080" y="5513832"/>
            <a:ext cx="5120640" cy="10973"/>
          </a:xfrm>
          <a:prstGeom prst="rect">
            <a:avLst/>
          </a:prstGeom>
          <a:solidFill>
            <a:srgbClr val="FFB81C">
              <a:alpha val="35000"/>
            </a:srgbClr>
          </a:solidFill>
          <a:ln/>
        </p:spPr>
        <p:txBody>
          <a:bodyPr/>
          <a:lstStyle/>
          <a:p>
            <a:endParaRPr lang="en-US"/>
          </a:p>
        </p:txBody>
      </p:sp>
      <p:sp>
        <p:nvSpPr>
          <p:cNvPr id="20" name="Text 18"/>
          <p:cNvSpPr/>
          <p:nvPr/>
        </p:nvSpPr>
        <p:spPr>
          <a:xfrm>
            <a:off x="640080" y="5532120"/>
            <a:ext cx="685800" cy="566928"/>
          </a:xfrm>
          <a:prstGeom prst="rect">
            <a:avLst/>
          </a:prstGeom>
          <a:noFill/>
          <a:ln/>
        </p:spPr>
        <p:txBody>
          <a:bodyPr wrap="square" lIns="0" tIns="0" rIns="0" bIns="0" rtlCol="0" anchor="ctr"/>
          <a:lstStyle/>
          <a:p>
            <a:pPr marL="0" indent="0" algn="l">
              <a:buNone/>
            </a:pPr>
            <a:r>
              <a:rPr lang="en-US" sz="2600" b="1" dirty="0">
                <a:solidFill>
                  <a:srgbClr val="FFB81C"/>
                </a:solidFill>
                <a:latin typeface="Georgia" pitchFamily="34" charset="0"/>
                <a:ea typeface="Georgia" pitchFamily="34" charset="-122"/>
                <a:cs typeface="Georgia" pitchFamily="34" charset="-120"/>
              </a:rPr>
              <a:t>06</a:t>
            </a:r>
            <a:endParaRPr lang="en-US" sz="2600" dirty="0"/>
          </a:p>
        </p:txBody>
      </p:sp>
      <p:sp>
        <p:nvSpPr>
          <p:cNvPr id="21" name="Text 19"/>
          <p:cNvSpPr/>
          <p:nvPr/>
        </p:nvSpPr>
        <p:spPr>
          <a:xfrm>
            <a:off x="1371600" y="5532120"/>
            <a:ext cx="4343400" cy="566928"/>
          </a:xfrm>
          <a:prstGeom prst="rect">
            <a:avLst/>
          </a:prstGeom>
          <a:noFill/>
          <a:ln/>
        </p:spPr>
        <p:txBody>
          <a:bodyPr wrap="square" lIns="0" tIns="0" rIns="0" bIns="0" rtlCol="0" anchor="ctr"/>
          <a:lstStyle/>
          <a:p>
            <a:pPr marL="0" indent="0">
              <a:buNone/>
            </a:pPr>
            <a:r>
              <a:rPr lang="en-US" sz="1450" b="1" dirty="0">
                <a:solidFill>
                  <a:srgbClr val="003366"/>
                </a:solidFill>
                <a:latin typeface="Calibri" pitchFamily="34" charset="0"/>
                <a:ea typeface="Calibri" pitchFamily="34" charset="-122"/>
                <a:cs typeface="Calibri" pitchFamily="34" charset="-120"/>
              </a:rPr>
              <a:t>How will you use AI responsibly?</a:t>
            </a:r>
            <a:endParaRPr lang="en-US" sz="1450" dirty="0"/>
          </a:p>
        </p:txBody>
      </p:sp>
      <p:sp>
        <p:nvSpPr>
          <p:cNvPr id="25" name="Text 23"/>
          <p:cNvSpPr/>
          <p:nvPr/>
        </p:nvSpPr>
        <p:spPr>
          <a:xfrm>
            <a:off x="6126480" y="4846320"/>
            <a:ext cx="2011680" cy="32004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Scan for digital toolkit + slides</a:t>
            </a:r>
            <a:endParaRPr lang="en-US" sz="1100" dirty="0"/>
          </a:p>
        </p:txBody>
      </p:sp>
      <p:sp>
        <p:nvSpPr>
          <p:cNvPr id="26" name="Shape 24"/>
          <p:cNvSpPr/>
          <p:nvPr/>
        </p:nvSpPr>
        <p:spPr>
          <a:xfrm>
            <a:off x="8412480" y="2743200"/>
            <a:ext cx="73152" cy="2468880"/>
          </a:xfrm>
          <a:prstGeom prst="rect">
            <a:avLst/>
          </a:prstGeom>
          <a:solidFill>
            <a:srgbClr val="FFB81C"/>
          </a:solidFill>
          <a:ln/>
        </p:spPr>
        <p:txBody>
          <a:bodyPr/>
          <a:lstStyle/>
          <a:p>
            <a:endParaRPr lang="en-US"/>
          </a:p>
        </p:txBody>
      </p:sp>
      <p:sp>
        <p:nvSpPr>
          <p:cNvPr id="27" name="Text 25"/>
          <p:cNvSpPr/>
          <p:nvPr/>
        </p:nvSpPr>
        <p:spPr>
          <a:xfrm>
            <a:off x="8613648" y="2834640"/>
            <a:ext cx="2834640" cy="594360"/>
          </a:xfrm>
          <a:prstGeom prst="rect">
            <a:avLst/>
          </a:prstGeom>
          <a:noFill/>
          <a:ln/>
        </p:spPr>
        <p:txBody>
          <a:bodyPr wrap="square" lIns="0" tIns="0" rIns="0" bIns="0" rtlCol="0" anchor="ctr"/>
          <a:lstStyle/>
          <a:p>
            <a:pPr marL="0" indent="0">
              <a:buNone/>
            </a:pPr>
            <a:r>
              <a:rPr lang="en-US" sz="2800" b="1" dirty="0">
                <a:solidFill>
                  <a:srgbClr val="003366"/>
                </a:solidFill>
                <a:latin typeface="Georgia" pitchFamily="34" charset="0"/>
                <a:ea typeface="Georgia" pitchFamily="34" charset="-122"/>
                <a:cs typeface="Georgia" pitchFamily="34" charset="-120"/>
              </a:rPr>
              <a:t>Vincent Calip</a:t>
            </a:r>
            <a:endParaRPr lang="en-US" sz="2800" dirty="0"/>
          </a:p>
        </p:txBody>
      </p:sp>
      <p:sp>
        <p:nvSpPr>
          <p:cNvPr id="28" name="Text 26"/>
          <p:cNvSpPr/>
          <p:nvPr/>
        </p:nvSpPr>
        <p:spPr>
          <a:xfrm>
            <a:off x="8613648" y="3520440"/>
            <a:ext cx="2834640" cy="320040"/>
          </a:xfrm>
          <a:prstGeom prst="rect">
            <a:avLst/>
          </a:prstGeom>
          <a:noFill/>
          <a:ln/>
        </p:spPr>
        <p:txBody>
          <a:bodyPr wrap="square" lIns="0" tIns="0" rIns="0" bIns="0" rtlCol="0" anchor="ctr"/>
          <a:lstStyle/>
          <a:p>
            <a:pPr marL="0" indent="0">
              <a:buNone/>
            </a:pPr>
            <a:r>
              <a:rPr lang="en-US" sz="1500" dirty="0">
                <a:solidFill>
                  <a:srgbClr val="1A1A1A"/>
                </a:solidFill>
                <a:latin typeface="Calibri" pitchFamily="34" charset="0"/>
                <a:ea typeface="Calibri" pitchFamily="34" charset="-122"/>
                <a:cs typeface="Calibri" pitchFamily="34" charset="-120"/>
              </a:rPr>
              <a:t>Associate Professor</a:t>
            </a:r>
            <a:endParaRPr lang="en-US" sz="1500" dirty="0"/>
          </a:p>
        </p:txBody>
      </p:sp>
      <p:sp>
        <p:nvSpPr>
          <p:cNvPr id="29" name="Text 27"/>
          <p:cNvSpPr/>
          <p:nvPr/>
        </p:nvSpPr>
        <p:spPr>
          <a:xfrm>
            <a:off x="8613648" y="3822192"/>
            <a:ext cx="2834640" cy="320040"/>
          </a:xfrm>
          <a:prstGeom prst="rect">
            <a:avLst/>
          </a:prstGeom>
          <a:noFill/>
          <a:ln/>
        </p:spPr>
        <p:txBody>
          <a:bodyPr wrap="square" lIns="0" tIns="0" rIns="0" bIns="0" rtlCol="0" anchor="ctr"/>
          <a:lstStyle/>
          <a:p>
            <a:pPr marL="0" indent="0">
              <a:buNone/>
            </a:pPr>
            <a:r>
              <a:rPr lang="en-US" sz="1500" dirty="0">
                <a:solidFill>
                  <a:srgbClr val="1A1A1A"/>
                </a:solidFill>
                <a:latin typeface="Calibri" pitchFamily="34" charset="0"/>
                <a:ea typeface="Calibri" pitchFamily="34" charset="-122"/>
                <a:cs typeface="Calibri" pitchFamily="34" charset="-120"/>
              </a:rPr>
              <a:t>Long Beach City College</a:t>
            </a:r>
            <a:endParaRPr lang="en-US" sz="1500" dirty="0"/>
          </a:p>
        </p:txBody>
      </p:sp>
      <p:sp>
        <p:nvSpPr>
          <p:cNvPr id="30" name="Shape 28"/>
          <p:cNvSpPr/>
          <p:nvPr/>
        </p:nvSpPr>
        <p:spPr>
          <a:xfrm>
            <a:off x="8613648" y="4343400"/>
            <a:ext cx="548640" cy="22860"/>
          </a:xfrm>
          <a:prstGeom prst="rect">
            <a:avLst/>
          </a:prstGeom>
          <a:solidFill>
            <a:srgbClr val="FFB81C"/>
          </a:solidFill>
          <a:ln/>
        </p:spPr>
        <p:txBody>
          <a:bodyPr/>
          <a:lstStyle/>
          <a:p>
            <a:endParaRPr lang="en-US"/>
          </a:p>
        </p:txBody>
      </p:sp>
      <p:sp>
        <p:nvSpPr>
          <p:cNvPr id="31" name="Text 29"/>
          <p:cNvSpPr/>
          <p:nvPr/>
        </p:nvSpPr>
        <p:spPr>
          <a:xfrm>
            <a:off x="8613648" y="4498848"/>
            <a:ext cx="2834640" cy="457200"/>
          </a:xfrm>
          <a:prstGeom prst="rect">
            <a:avLst/>
          </a:prstGeom>
          <a:noFill/>
          <a:ln/>
        </p:spPr>
        <p:txBody>
          <a:bodyPr wrap="square" lIns="0" tIns="0" rIns="0" bIns="0" rtlCol="0" anchor="ctr"/>
          <a:lstStyle/>
          <a:p>
            <a:pPr marL="0" indent="0">
              <a:buNone/>
            </a:pPr>
            <a:r>
              <a:rPr lang="en-US" sz="2000" b="1" dirty="0">
                <a:solidFill>
                  <a:srgbClr val="003366"/>
                </a:solidFill>
                <a:latin typeface="Calibri" pitchFamily="34" charset="0"/>
                <a:ea typeface="Calibri" pitchFamily="34" charset="-122"/>
                <a:cs typeface="Calibri" pitchFamily="34" charset="-120"/>
              </a:rPr>
              <a:t>vcalip@lbcc.edu</a:t>
            </a:r>
            <a:endParaRPr lang="en-US" sz="2000" dirty="0"/>
          </a:p>
        </p:txBody>
      </p:sp>
      <p:sp>
        <p:nvSpPr>
          <p:cNvPr id="32" name="Text 30"/>
          <p:cNvSpPr/>
          <p:nvPr/>
        </p:nvSpPr>
        <p:spPr>
          <a:xfrm>
            <a:off x="457200" y="6492240"/>
            <a:ext cx="7315200" cy="274320"/>
          </a:xfrm>
          <a:prstGeom prst="rect">
            <a:avLst/>
          </a:prstGeom>
          <a:noFill/>
          <a:ln/>
        </p:spPr>
        <p:txBody>
          <a:bodyPr wrap="square" lIns="0" tIns="0" rIns="0" bIns="0" rtlCol="0" anchor="ctr"/>
          <a:lstStyle/>
          <a:p>
            <a:pPr marL="0" indent="0" algn="l">
              <a:buNone/>
            </a:pPr>
            <a:r>
              <a:rPr lang="en-US" sz="900" dirty="0">
                <a:solidFill>
                  <a:srgbClr val="4A5568"/>
                </a:solidFill>
                <a:latin typeface="Calibri" pitchFamily="34" charset="0"/>
                <a:ea typeface="Calibri" pitchFamily="34" charset="-122"/>
                <a:cs typeface="Calibri" pitchFamily="34" charset="-120"/>
              </a:rPr>
              <a:t>LARC K–16 Counselor Summit  ·  Vincent Calip, LBCC</a:t>
            </a:r>
            <a:endParaRPr lang="en-US" sz="900" dirty="0"/>
          </a:p>
        </p:txBody>
      </p:sp>
      <p:sp>
        <p:nvSpPr>
          <p:cNvPr id="33" name="Text 31"/>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16 / 16</a:t>
            </a:r>
            <a:endParaRPr lang="en-US" sz="900" dirty="0"/>
          </a:p>
        </p:txBody>
      </p:sp>
      <p:pic>
        <p:nvPicPr>
          <p:cNvPr id="35" name="Picture 34">
            <a:extLst>
              <a:ext uri="{FF2B5EF4-FFF2-40B4-BE49-F238E27FC236}">
                <a16:creationId xmlns:a16="http://schemas.microsoft.com/office/drawing/2014/main" id="{A240A9A4-E1EE-64D9-84A8-43F93658CF86}"/>
              </a:ext>
            </a:extLst>
          </p:cNvPr>
          <p:cNvPicPr>
            <a:picLocks noChangeAspect="1"/>
          </p:cNvPicPr>
          <p:nvPr/>
        </p:nvPicPr>
        <p:blipFill>
          <a:blip r:embed="rId3"/>
          <a:stretch>
            <a:fillRect/>
          </a:stretch>
        </p:blipFill>
        <p:spPr>
          <a:xfrm>
            <a:off x="6239688" y="2916988"/>
            <a:ext cx="1785263" cy="1810408"/>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4961</Words>
  <Application>Microsoft Office PowerPoint</Application>
  <PresentationFormat>Widescreen</PresentationFormat>
  <Paragraphs>234</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Long Beach City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Tasks, Not Just Jobs</dc:title>
  <dc:subject>LARC K-16 Counselor Summit</dc:subject>
  <dc:creator>Vincent Calip</dc:creator>
  <cp:lastModifiedBy>Vincent Calip</cp:lastModifiedBy>
  <cp:revision>3</cp:revision>
  <dcterms:created xsi:type="dcterms:W3CDTF">2026-05-03T04:09:59Z</dcterms:created>
  <dcterms:modified xsi:type="dcterms:W3CDTF">2026-05-03T18:42:19Z</dcterms:modified>
</cp:coreProperties>
</file>